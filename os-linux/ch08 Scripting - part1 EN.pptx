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22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41.xml.rels" ContentType="application/vnd.openxmlformats-package.relationships+xml"/>
  <Override PartName="/ppt/slides/_rels/slide39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3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50.xml.rels" ContentType="application/vnd.openxmlformats-package.relationships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</p:sldMasterIdLst>
  <p:notesMasterIdLst>
    <p:notesMasterId r:id="rId34"/>
  </p:notesMasterIdLst>
  <p:sldIdLst>
    <p:sldId id="256" r:id="rId35"/>
    <p:sldId id="257" r:id="rId36"/>
    <p:sldId id="258" r:id="rId37"/>
    <p:sldId id="259" r:id="rId38"/>
    <p:sldId id="260" r:id="rId39"/>
    <p:sldId id="261" r:id="rId40"/>
    <p:sldId id="262" r:id="rId41"/>
    <p:sldId id="263" r:id="rId42"/>
    <p:sldId id="264" r:id="rId43"/>
    <p:sldId id="265" r:id="rId44"/>
    <p:sldId id="266" r:id="rId45"/>
    <p:sldId id="267" r:id="rId46"/>
    <p:sldId id="268" r:id="rId47"/>
    <p:sldId id="269" r:id="rId48"/>
    <p:sldId id="270" r:id="rId49"/>
    <p:sldId id="271" r:id="rId50"/>
    <p:sldId id="272" r:id="rId51"/>
    <p:sldId id="273" r:id="rId52"/>
    <p:sldId id="274" r:id="rId53"/>
    <p:sldId id="275" r:id="rId54"/>
    <p:sldId id="276" r:id="rId55"/>
    <p:sldId id="277" r:id="rId56"/>
    <p:sldId id="278" r:id="rId57"/>
    <p:sldId id="279" r:id="rId58"/>
    <p:sldId id="280" r:id="rId59"/>
    <p:sldId id="281" r:id="rId60"/>
    <p:sldId id="282" r:id="rId61"/>
    <p:sldId id="283" r:id="rId62"/>
    <p:sldId id="284" r:id="rId63"/>
    <p:sldId id="285" r:id="rId64"/>
    <p:sldId id="286" r:id="rId65"/>
    <p:sldId id="287" r:id="rId66"/>
    <p:sldId id="288" r:id="rId67"/>
    <p:sldId id="289" r:id="rId68"/>
    <p:sldId id="290" r:id="rId69"/>
    <p:sldId id="291" r:id="rId70"/>
    <p:sldId id="292" r:id="rId71"/>
    <p:sldId id="293" r:id="rId72"/>
    <p:sldId id="294" r:id="rId73"/>
    <p:sldId id="295" r:id="rId74"/>
    <p:sldId id="296" r:id="rId75"/>
    <p:sldId id="297" r:id="rId76"/>
    <p:sldId id="298" r:id="rId77"/>
    <p:sldId id="299" r:id="rId78"/>
    <p:sldId id="300" r:id="rId79"/>
    <p:sldId id="301" r:id="rId80"/>
    <p:sldId id="302" r:id="rId81"/>
    <p:sldId id="303" r:id="rId82"/>
    <p:sldId id="304" r:id="rId83"/>
    <p:sldId id="305" r:id="rId84"/>
    <p:sldId id="306" r:id="rId85"/>
    <p:sldId id="307" r:id="rId8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notesMaster" Target="notesMasters/notesMaster1.xml"/><Relationship Id="rId35" Type="http://schemas.openxmlformats.org/officeDocument/2006/relationships/slide" Target="slides/slide1.xml"/><Relationship Id="rId36" Type="http://schemas.openxmlformats.org/officeDocument/2006/relationships/slide" Target="slides/slide2.xml"/><Relationship Id="rId37" Type="http://schemas.openxmlformats.org/officeDocument/2006/relationships/slide" Target="slides/slide3.xml"/><Relationship Id="rId38" Type="http://schemas.openxmlformats.org/officeDocument/2006/relationships/slide" Target="slides/slide4.xml"/><Relationship Id="rId39" Type="http://schemas.openxmlformats.org/officeDocument/2006/relationships/slide" Target="slides/slide5.xml"/><Relationship Id="rId40" Type="http://schemas.openxmlformats.org/officeDocument/2006/relationships/slide" Target="slides/slide6.xml"/><Relationship Id="rId41" Type="http://schemas.openxmlformats.org/officeDocument/2006/relationships/slide" Target="slides/slide7.xml"/><Relationship Id="rId42" Type="http://schemas.openxmlformats.org/officeDocument/2006/relationships/slide" Target="slides/slide8.xml"/><Relationship Id="rId43" Type="http://schemas.openxmlformats.org/officeDocument/2006/relationships/slide" Target="slides/slide9.xml"/><Relationship Id="rId44" Type="http://schemas.openxmlformats.org/officeDocument/2006/relationships/slide" Target="slides/slide10.xml"/><Relationship Id="rId45" Type="http://schemas.openxmlformats.org/officeDocument/2006/relationships/slide" Target="slides/slide11.xml"/><Relationship Id="rId46" Type="http://schemas.openxmlformats.org/officeDocument/2006/relationships/slide" Target="slides/slide12.xml"/><Relationship Id="rId47" Type="http://schemas.openxmlformats.org/officeDocument/2006/relationships/slide" Target="slides/slide13.xml"/><Relationship Id="rId48" Type="http://schemas.openxmlformats.org/officeDocument/2006/relationships/slide" Target="slides/slide14.xml"/><Relationship Id="rId49" Type="http://schemas.openxmlformats.org/officeDocument/2006/relationships/slide" Target="slides/slide15.xml"/><Relationship Id="rId50" Type="http://schemas.openxmlformats.org/officeDocument/2006/relationships/slide" Target="slides/slide16.xml"/><Relationship Id="rId51" Type="http://schemas.openxmlformats.org/officeDocument/2006/relationships/slide" Target="slides/slide17.xml"/><Relationship Id="rId52" Type="http://schemas.openxmlformats.org/officeDocument/2006/relationships/slide" Target="slides/slide18.xml"/><Relationship Id="rId53" Type="http://schemas.openxmlformats.org/officeDocument/2006/relationships/slide" Target="slides/slide19.xml"/><Relationship Id="rId54" Type="http://schemas.openxmlformats.org/officeDocument/2006/relationships/slide" Target="slides/slide20.xml"/><Relationship Id="rId55" Type="http://schemas.openxmlformats.org/officeDocument/2006/relationships/slide" Target="slides/slide21.xml"/><Relationship Id="rId56" Type="http://schemas.openxmlformats.org/officeDocument/2006/relationships/slide" Target="slides/slide22.xml"/><Relationship Id="rId57" Type="http://schemas.openxmlformats.org/officeDocument/2006/relationships/slide" Target="slides/slide23.xml"/><Relationship Id="rId58" Type="http://schemas.openxmlformats.org/officeDocument/2006/relationships/slide" Target="slides/slide24.xml"/><Relationship Id="rId59" Type="http://schemas.openxmlformats.org/officeDocument/2006/relationships/slide" Target="slides/slide25.xml"/><Relationship Id="rId60" Type="http://schemas.openxmlformats.org/officeDocument/2006/relationships/slide" Target="slides/slide26.xml"/><Relationship Id="rId61" Type="http://schemas.openxmlformats.org/officeDocument/2006/relationships/slide" Target="slides/slide27.xml"/><Relationship Id="rId62" Type="http://schemas.openxmlformats.org/officeDocument/2006/relationships/slide" Target="slides/slide28.xml"/><Relationship Id="rId63" Type="http://schemas.openxmlformats.org/officeDocument/2006/relationships/slide" Target="slides/slide29.xml"/><Relationship Id="rId64" Type="http://schemas.openxmlformats.org/officeDocument/2006/relationships/slide" Target="slides/slide30.xml"/><Relationship Id="rId65" Type="http://schemas.openxmlformats.org/officeDocument/2006/relationships/slide" Target="slides/slide31.xml"/><Relationship Id="rId66" Type="http://schemas.openxmlformats.org/officeDocument/2006/relationships/slide" Target="slides/slide32.xml"/><Relationship Id="rId67" Type="http://schemas.openxmlformats.org/officeDocument/2006/relationships/slide" Target="slides/slide33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36.xml"/><Relationship Id="rId71" Type="http://schemas.openxmlformats.org/officeDocument/2006/relationships/slide" Target="slides/slide37.xml"/><Relationship Id="rId72" Type="http://schemas.openxmlformats.org/officeDocument/2006/relationships/slide" Target="slides/slide38.xml"/><Relationship Id="rId73" Type="http://schemas.openxmlformats.org/officeDocument/2006/relationships/slide" Target="slides/slide39.xml"/><Relationship Id="rId74" Type="http://schemas.openxmlformats.org/officeDocument/2006/relationships/slide" Target="slides/slide40.xml"/><Relationship Id="rId75" Type="http://schemas.openxmlformats.org/officeDocument/2006/relationships/slide" Target="slides/slide41.xml"/><Relationship Id="rId76" Type="http://schemas.openxmlformats.org/officeDocument/2006/relationships/slide" Target="slides/slide42.xml"/><Relationship Id="rId77" Type="http://schemas.openxmlformats.org/officeDocument/2006/relationships/slide" Target="slides/slide43.xml"/><Relationship Id="rId78" Type="http://schemas.openxmlformats.org/officeDocument/2006/relationships/slide" Target="slides/slide44.xml"/><Relationship Id="rId79" Type="http://schemas.openxmlformats.org/officeDocument/2006/relationships/slide" Target="slides/slide45.xml"/><Relationship Id="rId80" Type="http://schemas.openxmlformats.org/officeDocument/2006/relationships/slide" Target="slides/slide46.xml"/><Relationship Id="rId81" Type="http://schemas.openxmlformats.org/officeDocument/2006/relationships/slide" Target="slides/slide47.xml"/><Relationship Id="rId82" Type="http://schemas.openxmlformats.org/officeDocument/2006/relationships/slide" Target="slides/slide48.xml"/><Relationship Id="rId83" Type="http://schemas.openxmlformats.org/officeDocument/2006/relationships/slide" Target="slides/slide49.xml"/><Relationship Id="rId84" Type="http://schemas.openxmlformats.org/officeDocument/2006/relationships/slide" Target="slides/slide50.xml"/><Relationship Id="rId85" Type="http://schemas.openxmlformats.org/officeDocument/2006/relationships/slide" Target="slides/slide51.xml"/><Relationship Id="rId86" Type="http://schemas.openxmlformats.org/officeDocument/2006/relationships/slide" Target="slides/slide52.xml"/><Relationship Id="rId8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dt" idx="2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ftr" idx="2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sldNum" idx="2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4519BD4-A6A3-4BE7-BB89-056CB890206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8AC8BB-BF02-4F08-AFCC-F525BD9024BC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16049B-6A5C-4157-8B8B-67DE0D37C61B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FB9950-145A-4664-BF5D-94DB393D7600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96415F-DB06-49C9-9288-DD858CE51E75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B2C81E-6F8E-4493-A29D-5FD0A540719A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8019A7-4D1F-43BE-A706-24D02BE09826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1EFDF5-E347-4126-8B20-5633598C7E96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nl-BE" sz="1000" spc="-1" strike="noStrike">
                <a:solidFill>
                  <a:srgbClr val="0c0d0e"/>
                </a:solidFill>
                <a:latin typeface="Arial"/>
                <a:ea typeface="Arial"/>
              </a:rPr>
              <a:t>${PIPESTATUS[0], ${PIPESTATUS[1]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7B1287-FF8E-4990-BD51-37733B99937A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74CD4B-7BFA-4A7B-879F-F46377F4DA86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5B35CB-6295-4991-820E-13935FA2A7D3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8F68EF-D045-47BB-A571-8794FEAEA6A9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5426F1-8651-405F-ADD1-0405EEAFECC3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F424E0-F577-43FF-8CD6-25062B143A62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FB0B76-D710-4164-A647-5160FEB6C069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87A26A-B580-4AAE-9453-E097247172D5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51FE09-791B-4E6F-A2D3-A32748364853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1359E2-F98F-4E8C-B266-B3B13DE997BB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CE2928-E9CE-47DE-BD71-E394D813558C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14910D-0451-4B2C-97F8-2E8EFCE02A57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1200" spc="-1" strike="noStrike">
                <a:solidFill>
                  <a:schemeClr val="dk1"/>
                </a:solidFill>
                <a:latin typeface="Calibri"/>
                <a:ea typeface="Calibri"/>
              </a:rPr>
              <a:t>Here string: echo "aaa" | tr "a" "A"  → tr "a" "A" &lt;&lt;&lt; "aaa"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C8A00B-8A14-4AFA-9617-B84F3A3097FF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1200" spc="-1" strike="noStrike">
                <a:solidFill>
                  <a:schemeClr val="dk1"/>
                </a:solidFill>
                <a:latin typeface="Calibri"/>
                <a:ea typeface="Calibri"/>
              </a:rPr>
              <a:t>Here string: echo "aaa" | tr "a" "A"  → tr "a" "A" &lt;&lt;&lt; "aaa"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8EE8EE-2099-48B7-A9D7-175252CAD2F4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1200" spc="-1" strike="noStrike">
                <a:solidFill>
                  <a:schemeClr val="dk1"/>
                </a:solidFill>
                <a:latin typeface="Calibri"/>
                <a:ea typeface="Calibri"/>
              </a:rPr>
              <a:t>Here string: echo "aaa" | tr "a" "A"  → tr "a" "A" &lt;&lt;&lt; "aaa"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AC4525-CE86-456B-8529-368AD1334800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D69952-D598-431A-A74D-2AEAA5427A62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81CDAB-1CF9-4A9F-B69F-C55558D88BB1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994F2A-D04B-4166-9DD0-9B19BE2306E4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1200" spc="-1" strike="noStrike">
                <a:solidFill>
                  <a:schemeClr val="dk1"/>
                </a:solidFill>
                <a:latin typeface="Calibri"/>
                <a:ea typeface="Calibri"/>
              </a:rPr>
              <a:t>Here string: echo "aaa" | tr "a" "A"  → tr "a" "A" &lt;&lt;&lt; "aaa"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3752DE-C9EB-411A-A7F9-24B4ACA39EF3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1200" spc="-1" strike="noStrike">
                <a:solidFill>
                  <a:schemeClr val="dk1"/>
                </a:solidFill>
                <a:latin typeface="Calibri"/>
                <a:ea typeface="Calibri"/>
              </a:rPr>
              <a:t>Here string: echo "aaa" | tr "a" "A"  → tr "a" "A" &lt;&lt;&lt; "aaa"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7D0D7D-1C0A-4AF7-9EEF-DB03C9887716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C38F5D-8497-4802-9329-288BE3B715A8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8A6833-3716-4DF9-8552-2BF7F2A18195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52D787-9A2F-4D97-8809-DB03C1C2EA72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85D888-982F-4541-BF91-64DEF041F515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77FEDE-5287-44BB-8B4A-239A7C5552AD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FF6CC4-2183-4DB4-A69A-B8FF2EE42AAB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37AAA6-F2FC-403F-8399-D77B8BEC8FA4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FFCF27-1EC8-426D-8757-0BCA7D0A813E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35F890-7686-4CF7-A1A6-F482A2CFF3BD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1A6DCD-9B14-421A-9030-6FAA824D136B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1A491D-1A35-4242-9A62-E622347BF199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nl-BE" sz="1000" spc="-1" strike="noStrike">
                <a:solidFill>
                  <a:srgbClr val="0c0d0e"/>
                </a:solidFill>
                <a:latin typeface="Arial"/>
                <a:ea typeface="Arial"/>
              </a:rPr>
              <a:t>${PIPESTATUS[0], ${PIPESTATUS[1]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F5AFBC-609F-41B5-8BFF-237188E281C0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F55798-15C6-48AF-9147-17A856D5CF86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7CCB97-A4D5-4731-85FF-30D00931D2EC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0E70CA-6279-48B6-A672-E2B07118D3A5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4E0B4E-FC86-49EC-AD7F-E4B59ED375D3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38C521-8F9A-494A-AA63-76CFDE1B54A3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11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2FD8FC-330C-46A8-ABE5-E3DC1D112FA3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11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24AF5D-E041-43BE-B522-FABC57BA485A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11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8F09D0-1D62-41B6-9BD8-335DCA4DA42A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12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6BBC23-1EB6-4D5F-96E6-BC215BD3D03C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12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34893B-122D-4B9F-AAE4-06CC9EDCDE0A}" type="slidenum">
              <a:rPr b="0" lang="nl-B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- Zw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7FE9543-ADE5-4F3E-9F1B-040B6864E59C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FF0190A-CA3A-4D62-8EE6-0394F21F4EE2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876B8C-203A-4DDB-BCB9-06FB69A4C7F8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- 1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- 2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- 3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- 4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- 5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- 6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hapter Header - 7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5ED40D8-6290-422A-9AAD-AA17424175F5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BC21BC2-4E03-4575-A1E7-A31B762F5934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hapter Header - 8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- 9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- 10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11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E3BE781-7639-4B4C-BD56-9ED62E53D658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12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13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14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15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16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- 17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en tekst met icoon in de m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AEB8FB8-93EC-4A16-8561-7DF80CB30C68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- 18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19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ofdstuk 20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ind Sch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9C1A0F7C-3A7B-4DF3-A58A-A51DE43827AE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g sch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9C71630-9719-41E6-A74D-5CAB66F103DD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en tekst - gekleurd vl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CF50786-F71E-493C-BB1B-77C67A0E5461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en 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4B790ADB-DE27-4371-909F-4677254952E0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en 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F0BF594-A046-42BF-A7FB-933D9C060E7A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6;p2"/>
          <p:cNvSpPr/>
          <p:nvPr/>
        </p:nvSpPr>
        <p:spPr>
          <a:xfrm>
            <a:off x="576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120000" h="120000">
                <a:moveTo>
                  <a:pt x="0" y="119999"/>
                </a:moveTo>
                <a:lnTo>
                  <a:pt x="120000" y="119999"/>
                </a:lnTo>
                <a:lnTo>
                  <a:pt x="120000" y="0"/>
                </a:lnTo>
                <a:lnTo>
                  <a:pt x="0" y="0"/>
                </a:lnTo>
                <a:lnTo>
                  <a:pt x="0" y="11999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2" name="Google Shape;17;p2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120000" h="120000">
                <a:moveTo>
                  <a:pt x="107511" y="0"/>
                </a:moveTo>
                <a:lnTo>
                  <a:pt x="29542" y="0"/>
                </a:lnTo>
                <a:lnTo>
                  <a:pt x="0" y="13084"/>
                </a:lnTo>
                <a:lnTo>
                  <a:pt x="0" y="78051"/>
                </a:lnTo>
                <a:lnTo>
                  <a:pt x="6251" y="119999"/>
                </a:lnTo>
                <a:lnTo>
                  <a:pt x="98274" y="119999"/>
                </a:lnTo>
                <a:lnTo>
                  <a:pt x="120000" y="110377"/>
                </a:lnTo>
                <a:lnTo>
                  <a:pt x="120000" y="83794"/>
                </a:lnTo>
                <a:lnTo>
                  <a:pt x="107511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82760" y="1597680"/>
            <a:ext cx="599832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3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Google Shape;20;p2" descr="kdg-logo-horizontal.wmf"/>
          <p:cNvPicPr/>
          <p:nvPr/>
        </p:nvPicPr>
        <p:blipFill>
          <a:blip r:embed="rId3"/>
          <a:stretch/>
        </p:blipFill>
        <p:spPr>
          <a:xfrm>
            <a:off x="595440" y="4223520"/>
            <a:ext cx="1755000" cy="40320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06680" y="654120"/>
            <a:ext cx="5007600" cy="34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06680" y="4157280"/>
            <a:ext cx="5007600" cy="29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1"/>
          </p:nvPr>
        </p:nvSpPr>
        <p:spPr>
          <a:xfrm>
            <a:off x="7596360" y="4767120"/>
            <a:ext cx="1007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2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chemeClr val="lt1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CD433A-46DC-43C3-8D9C-585C4BFC0448}" type="slidenum">
              <a:rPr b="0" lang="nl-BE" sz="1050" spc="-1" strike="noStrike">
                <a:solidFill>
                  <a:schemeClr val="lt1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3" name="Google Shape;70;p11" descr=""/>
          <p:cNvPicPr/>
          <p:nvPr/>
        </p:nvPicPr>
        <p:blipFill>
          <a:blip r:embed="rId3"/>
          <a:stretch/>
        </p:blipFill>
        <p:spPr>
          <a:xfrm>
            <a:off x="0" y="4413240"/>
            <a:ext cx="799920" cy="7315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78880" y="1390680"/>
            <a:ext cx="8025120" cy="30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78880" y="4429800"/>
            <a:ext cx="8025120" cy="29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3"/>
          </p:nvPr>
        </p:nvSpPr>
        <p:spPr>
          <a:xfrm>
            <a:off x="7596360" y="4767120"/>
            <a:ext cx="1007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4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chemeClr val="lt1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8A305D-7944-4E59-B2F8-2634E9A49516}" type="slidenum">
              <a:rPr b="0" lang="nl-BE" sz="1050" spc="-1" strike="noStrike">
                <a:solidFill>
                  <a:schemeClr val="lt1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0" name="Google Shape;77;p12" descr=""/>
          <p:cNvPicPr/>
          <p:nvPr/>
        </p:nvPicPr>
        <p:blipFill>
          <a:blip r:embed="rId3"/>
          <a:stretch/>
        </p:blipFill>
        <p:spPr>
          <a:xfrm>
            <a:off x="0" y="4413240"/>
            <a:ext cx="799920" cy="7315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78880" y="4429800"/>
            <a:ext cx="8025120" cy="29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78880" y="1390680"/>
            <a:ext cx="8025120" cy="30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5"/>
          </p:nvPr>
        </p:nvSpPr>
        <p:spPr>
          <a:xfrm>
            <a:off x="7596360" y="4767120"/>
            <a:ext cx="1007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6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chemeClr val="lt1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1022F3-A2AE-4ED5-9851-A533436BE105}" type="slidenum">
              <a:rPr b="0" lang="nl-BE" sz="1050" spc="-1" strike="noStrike">
                <a:solidFill>
                  <a:schemeClr val="lt1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7" name="Google Shape;84;p13" descr=""/>
          <p:cNvPicPr/>
          <p:nvPr/>
        </p:nvPicPr>
        <p:blipFill>
          <a:blip r:embed="rId3"/>
          <a:stretch/>
        </p:blipFill>
        <p:spPr>
          <a:xfrm>
            <a:off x="0" y="4413240"/>
            <a:ext cx="799920" cy="7315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29" name="Google Shape;86;p14" descr="kdg_ppt_chapters_2000x1024-white_kdg_ppt_chapters_2000x1024-white-v01.png"/>
          <p:cNvPicPr/>
          <p:nvPr/>
        </p:nvPicPr>
        <p:blipFill>
          <a:blip r:embed="rId3"/>
          <a:srcRect l="66867" t="0" r="2" b="0"/>
          <a:stretch/>
        </p:blipFill>
        <p:spPr>
          <a:xfrm>
            <a:off x="5816520" y="0"/>
            <a:ext cx="3327120" cy="5135040"/>
          </a:xfrm>
          <a:prstGeom prst="rect">
            <a:avLst/>
          </a:prstGeom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Google Shape;88;p14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34" name="Google Shape;90;p15" descr="kdg_ppt_chapters_2000x1024-white_kdg_ppt_chapters_2000x1024-white-v02.png"/>
          <p:cNvPicPr/>
          <p:nvPr/>
        </p:nvPicPr>
        <p:blipFill>
          <a:blip r:embed="rId3"/>
          <a:srcRect l="67856" t="0" r="-2" b="0"/>
          <a:stretch/>
        </p:blipFill>
        <p:spPr>
          <a:xfrm>
            <a:off x="5905800" y="-12600"/>
            <a:ext cx="3185640" cy="514764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Google Shape;92;p15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39" name="Google Shape;94;p16" descr="kdg_ppt_chapters_2000x1024-white_kdg_ppt_chapters_2000x1024-white-v03.png"/>
          <p:cNvPicPr/>
          <p:nvPr/>
        </p:nvPicPr>
        <p:blipFill>
          <a:blip r:embed="rId3"/>
          <a:stretch/>
        </p:blipFill>
        <p:spPr>
          <a:xfrm>
            <a:off x="7294680" y="0"/>
            <a:ext cx="1845720" cy="515376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Google Shape;96;p16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44" name="Google Shape;98;p17" descr="kdg_ppt_chapters_2000x1024-white_kdg_ppt_chapters_2000x1024-white-v04.png"/>
          <p:cNvPicPr/>
          <p:nvPr/>
        </p:nvPicPr>
        <p:blipFill>
          <a:blip r:embed="rId3"/>
          <a:srcRect l="66679" t="0" r="0" b="0"/>
          <a:stretch/>
        </p:blipFill>
        <p:spPr>
          <a:xfrm>
            <a:off x="5795640" y="0"/>
            <a:ext cx="3293640" cy="513504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100;p17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49" name="Google Shape;102;p18" descr="kdg_ppt_chapters_2000x1024-white_kdg_ppt_chapters_2000x1024-white-v05.png"/>
          <p:cNvPicPr/>
          <p:nvPr/>
        </p:nvPicPr>
        <p:blipFill>
          <a:blip r:embed="rId3"/>
          <a:srcRect l="72276" t="0" r="0" b="0"/>
          <a:stretch/>
        </p:blipFill>
        <p:spPr>
          <a:xfrm>
            <a:off x="6352560" y="0"/>
            <a:ext cx="2745720" cy="514512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04;p18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54" name="Google Shape;106;p19" descr="kdg_ppt_chapters_2000x1024-white_kdg_ppt_chapters_2000x1024-white-v06.png"/>
          <p:cNvPicPr/>
          <p:nvPr/>
        </p:nvPicPr>
        <p:blipFill>
          <a:blip r:embed="rId3"/>
          <a:srcRect l="68898" t="0" r="0" b="0"/>
          <a:stretch/>
        </p:blipFill>
        <p:spPr>
          <a:xfrm>
            <a:off x="6015960" y="-12600"/>
            <a:ext cx="3127680" cy="515268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Google Shape;108;p19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59" name="Google Shape;110;p20" descr="kdg_ppt_chapters_2000x1024-white_kdg_ppt_chapters_2000x1024-white-v07.png"/>
          <p:cNvPicPr/>
          <p:nvPr/>
        </p:nvPicPr>
        <p:blipFill>
          <a:blip r:embed="rId3"/>
          <a:srcRect l="69191" t="0" r="0" b="0"/>
          <a:stretch/>
        </p:blipFill>
        <p:spPr>
          <a:xfrm>
            <a:off x="6077520" y="-8640"/>
            <a:ext cx="3047400" cy="5148360"/>
          </a:xfrm>
          <a:prstGeom prst="rect">
            <a:avLst/>
          </a:prstGeom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7"/>
          </p:nvPr>
        </p:nvSpPr>
        <p:spPr>
          <a:xfrm>
            <a:off x="3025800" y="523836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8"/>
          </p:nvPr>
        </p:nvSpPr>
        <p:spPr>
          <a:xfrm>
            <a:off x="6481080" y="523224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54698E-50B8-44B6-9888-7D22541EA339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Google Shape;114;p20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9"/>
          </p:nvPr>
        </p:nvSpPr>
        <p:spPr>
          <a:xfrm>
            <a:off x="7596360" y="4767120"/>
            <a:ext cx="1007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0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625ECE-BB82-4D4F-AFEE-98AA58A4500A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71" name="Google Shape;116;p21" descr="kdg_ppt_chapters_2000x1024-white_kdg_ppt_chapters_2000x1024-white-v08.png"/>
          <p:cNvPicPr/>
          <p:nvPr/>
        </p:nvPicPr>
        <p:blipFill>
          <a:blip r:embed="rId3"/>
          <a:srcRect l="71320" t="0" r="0" b="0"/>
          <a:stretch/>
        </p:blipFill>
        <p:spPr>
          <a:xfrm>
            <a:off x="6256440" y="-12240"/>
            <a:ext cx="2840400" cy="5155200"/>
          </a:xfrm>
          <a:prstGeom prst="rect">
            <a:avLst/>
          </a:prstGeom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18;p21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75" name="Google Shape;120;p22" descr="kdg_ppt_chapters_2000x1024-white_kdg_ppt_chapters_2000x1024-white-v09.png"/>
          <p:cNvPicPr/>
          <p:nvPr/>
        </p:nvPicPr>
        <p:blipFill>
          <a:blip r:embed="rId3"/>
          <a:srcRect l="68834" t="0" r="0" b="0"/>
          <a:stretch/>
        </p:blipFill>
        <p:spPr>
          <a:xfrm>
            <a:off x="6001920" y="0"/>
            <a:ext cx="3090960" cy="516168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122;p22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79" name="Google Shape;124;p23" descr="kdg_ppt_chapters_2000x1024-white_kdg_ppt_chapters_2000x1024-white-v10.png"/>
          <p:cNvPicPr/>
          <p:nvPr/>
        </p:nvPicPr>
        <p:blipFill>
          <a:blip r:embed="rId3"/>
          <a:srcRect l="62539" t="0" r="0" b="0"/>
          <a:stretch/>
        </p:blipFill>
        <p:spPr>
          <a:xfrm>
            <a:off x="5383440" y="0"/>
            <a:ext cx="3699360" cy="514008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126;p23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83" name="Google Shape;128;p24" descr="kdg_ppt_chapters_2000x1024-white_kdg_ppt_chapters_2000x1024-white-v11.png"/>
          <p:cNvPicPr/>
          <p:nvPr/>
        </p:nvPicPr>
        <p:blipFill>
          <a:blip r:embed="rId3"/>
          <a:srcRect l="62717" t="0" r="0" b="0"/>
          <a:stretch/>
        </p:blipFill>
        <p:spPr>
          <a:xfrm>
            <a:off x="5390280" y="0"/>
            <a:ext cx="3753360" cy="5157720"/>
          </a:xfrm>
          <a:prstGeom prst="rect">
            <a:avLst/>
          </a:prstGeom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11"/>
          </p:nvPr>
        </p:nvSpPr>
        <p:spPr>
          <a:xfrm>
            <a:off x="3025800" y="523800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12"/>
          </p:nvPr>
        </p:nvSpPr>
        <p:spPr>
          <a:xfrm>
            <a:off x="6481080" y="523224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4B5F4A-1548-4597-A584-199DE92ABEA9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Google Shape;132;p24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89" name="Google Shape;134;p25" descr="kdg_ppt_chapters_2000x1024-white_kdg_ppt_chapters_2000x1024-white-v12.png"/>
          <p:cNvPicPr/>
          <p:nvPr/>
        </p:nvPicPr>
        <p:blipFill>
          <a:blip r:embed="rId3"/>
          <a:srcRect l="62609" t="0" r="0" b="0"/>
          <a:stretch/>
        </p:blipFill>
        <p:spPr>
          <a:xfrm>
            <a:off x="5369400" y="-12240"/>
            <a:ext cx="3713040" cy="516816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36;p25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93" name="Google Shape;138;p26" descr="kdg_ppt_chapters_2000x1024-white_kdg_ppt_chapters_2000x1024-white-v13.png"/>
          <p:cNvPicPr/>
          <p:nvPr/>
        </p:nvPicPr>
        <p:blipFill>
          <a:blip r:embed="rId3"/>
          <a:srcRect l="68374" t="0" r="0" b="0"/>
          <a:stretch/>
        </p:blipFill>
        <p:spPr>
          <a:xfrm>
            <a:off x="5967720" y="0"/>
            <a:ext cx="3124440" cy="5142240"/>
          </a:xfrm>
          <a:prstGeom prst="rect">
            <a:avLst/>
          </a:prstGeom>
          <a:ln w="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40;p26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142;p27" descr="kdg_ppt_chapters_2000x1024-white_kdg_ppt_chapters_2000x1024-white-v14.png"/>
          <p:cNvPicPr/>
          <p:nvPr/>
        </p:nvPicPr>
        <p:blipFill>
          <a:blip r:embed="rId3"/>
          <a:srcRect l="62743" t="0" r="-2" b="0"/>
          <a:stretch/>
        </p:blipFill>
        <p:spPr>
          <a:xfrm>
            <a:off x="5403960" y="0"/>
            <a:ext cx="3679200" cy="51400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144;p27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101" name="Google Shape;146;p28" descr="kdg_ppt_chapters_2000x1024-white_kdg_ppt_chapters_2000x1024-white-v15.png"/>
          <p:cNvPicPr/>
          <p:nvPr/>
        </p:nvPicPr>
        <p:blipFill>
          <a:blip r:embed="rId3"/>
          <a:srcRect l="64936" t="0" r="0" b="0"/>
          <a:stretch/>
        </p:blipFill>
        <p:spPr>
          <a:xfrm>
            <a:off x="5623920" y="0"/>
            <a:ext cx="3462840" cy="514008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Google Shape;148;p28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105" name="Google Shape;150;p29" descr="kdg_ppt_chapters_2000x1024-white_kdg_ppt_chapters_2000x1024-white-v16.png"/>
          <p:cNvPicPr/>
          <p:nvPr/>
        </p:nvPicPr>
        <p:blipFill>
          <a:blip r:embed="rId3"/>
          <a:srcRect l="62615" t="0" r="0" b="0"/>
          <a:stretch/>
        </p:blipFill>
        <p:spPr>
          <a:xfrm>
            <a:off x="5328360" y="0"/>
            <a:ext cx="3815280" cy="522828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152;p29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109" name="Google Shape;154;p30" descr="kdg_ppt_chapters_2000x1024-white_kdg_ppt_chapters_2000x1024-white-v17.png"/>
          <p:cNvPicPr/>
          <p:nvPr/>
        </p:nvPicPr>
        <p:blipFill>
          <a:blip r:embed="rId3"/>
          <a:srcRect l="60006" t="0" r="0" b="0"/>
          <a:stretch/>
        </p:blipFill>
        <p:spPr>
          <a:xfrm>
            <a:off x="5128920" y="0"/>
            <a:ext cx="3949920" cy="5140080"/>
          </a:xfrm>
          <a:prstGeom prst="rect">
            <a:avLst/>
          </a:prstGeom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56;p30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body"/>
          </p:nvPr>
        </p:nvSpPr>
        <p:spPr>
          <a:xfrm>
            <a:off x="562680" y="1422720"/>
            <a:ext cx="8041320" cy="1855440"/>
          </a:xfrm>
          <a:prstGeom prst="rect">
            <a:avLst/>
          </a:prstGeom>
          <a:noFill/>
          <a:ln w="28440">
            <a:solidFill>
              <a:schemeClr val="accent1"/>
            </a:solidFill>
            <a:round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09480" y="1459800"/>
            <a:ext cx="867240" cy="7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dt" idx="13"/>
          </p:nvPr>
        </p:nvSpPr>
        <p:spPr>
          <a:xfrm>
            <a:off x="7596360" y="4767120"/>
            <a:ext cx="1007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sldNum" idx="14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2653A6-8B86-4384-9E96-AAE0E9C27790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119" name="Google Shape;158;p31" descr="kdg_ppt_chapters_2000x1024-white_kdg_ppt_chapters_2000x1024-white-v18.png"/>
          <p:cNvPicPr/>
          <p:nvPr/>
        </p:nvPicPr>
        <p:blipFill>
          <a:blip r:embed="rId3"/>
          <a:srcRect l="62373" t="0" r="0" b="0"/>
          <a:stretch/>
        </p:blipFill>
        <p:spPr>
          <a:xfrm>
            <a:off x="5369400" y="3960"/>
            <a:ext cx="3713040" cy="5135760"/>
          </a:xfrm>
          <a:prstGeom prst="rect">
            <a:avLst/>
          </a:prstGeom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160;p31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123" name="Google Shape;162;p32" descr="kdg_ppt_chapters_2000x1024-white_kdg_ppt_chapters_2000x1024-white-v19.png"/>
          <p:cNvPicPr/>
          <p:nvPr/>
        </p:nvPicPr>
        <p:blipFill>
          <a:blip r:embed="rId3"/>
          <a:srcRect l="63355" t="0" r="0" b="0"/>
          <a:stretch/>
        </p:blipFill>
        <p:spPr>
          <a:xfrm>
            <a:off x="5459040" y="0"/>
            <a:ext cx="3625200" cy="5148720"/>
          </a:xfrm>
          <a:prstGeom prst="rect">
            <a:avLst/>
          </a:prstGeom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164;p32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4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pic>
        <p:nvPicPr>
          <p:cNvPr id="127" name="Google Shape;166;p33" descr="kdg_ppt_chapters_2000x1024-white_kdg_ppt_chapters_2000x1024-white-v20.png"/>
          <p:cNvPicPr/>
          <p:nvPr/>
        </p:nvPicPr>
        <p:blipFill>
          <a:blip r:embed="rId3"/>
          <a:srcRect l="61649" t="0" r="0" b="0"/>
          <a:stretch/>
        </p:blipFill>
        <p:spPr>
          <a:xfrm>
            <a:off x="5293800" y="0"/>
            <a:ext cx="3787560" cy="5140080"/>
          </a:xfrm>
          <a:prstGeom prst="rect">
            <a:avLst/>
          </a:prstGeom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376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168;p33"/>
          <p:cNvSpPr/>
          <p:nvPr/>
        </p:nvSpPr>
        <p:spPr>
          <a:xfrm>
            <a:off x="582120" y="2081520"/>
            <a:ext cx="4433760" cy="68400"/>
          </a:xfrm>
          <a:custGeom>
            <a:avLst/>
            <a:gdLst>
              <a:gd name="textAreaLeft" fmla="*/ 0 w 4433760"/>
              <a:gd name="textAreaRight" fmla="*/ 4434120 w 4433760"/>
              <a:gd name="textAreaTop" fmla="*/ 0 h 68400"/>
              <a:gd name="textAreaBottom" fmla="*/ 68760 h 68400"/>
            </a:gdLst>
            <a:ahLst/>
            <a:rect l="textAreaLeft" t="textAreaTop" r="textAreaRight" b="textAreaBottom"/>
            <a:pathLst>
              <a:path w="120000" h="120000">
                <a:moveTo>
                  <a:pt x="120000" y="119999"/>
                </a:moveTo>
                <a:lnTo>
                  <a:pt x="0" y="119999"/>
                </a:lnTo>
                <a:lnTo>
                  <a:pt x="0" y="0"/>
                </a:lnTo>
                <a:lnTo>
                  <a:pt x="120000" y="0"/>
                </a:lnTo>
                <a:lnTo>
                  <a:pt x="120000" y="119999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4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131" name="Google Shape;33;p5"/>
          <p:cNvSpPr/>
          <p:nvPr/>
        </p:nvSpPr>
        <p:spPr>
          <a:xfrm>
            <a:off x="576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120000" h="120000">
                <a:moveTo>
                  <a:pt x="0" y="119999"/>
                </a:moveTo>
                <a:lnTo>
                  <a:pt x="120000" y="119999"/>
                </a:lnTo>
                <a:lnTo>
                  <a:pt x="120000" y="0"/>
                </a:lnTo>
                <a:lnTo>
                  <a:pt x="0" y="0"/>
                </a:lnTo>
                <a:lnTo>
                  <a:pt x="0" y="11999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132" name="Google Shape;34;p5"/>
          <p:cNvSpPr/>
          <p:nvPr/>
        </p:nvSpPr>
        <p:spPr>
          <a:xfrm>
            <a:off x="0" y="0"/>
            <a:ext cx="9143640" cy="5143320"/>
          </a:xfrm>
          <a:custGeom>
            <a:avLst/>
            <a:gdLst>
              <a:gd name="textAreaLeft" fmla="*/ 0 w 9143640"/>
              <a:gd name="textAreaRight" fmla="*/ 9144000 w 9143640"/>
              <a:gd name="textAreaTop" fmla="*/ 0 h 5143320"/>
              <a:gd name="textAreaBottom" fmla="*/ 5143680 h 5143320"/>
            </a:gdLst>
            <a:ahLst/>
            <a:rect l="textAreaLeft" t="textAreaTop" r="textAreaRight" b="textAreaBottom"/>
            <a:pathLst>
              <a:path w="120000" h="120000">
                <a:moveTo>
                  <a:pt x="107511" y="0"/>
                </a:moveTo>
                <a:lnTo>
                  <a:pt x="29542" y="0"/>
                </a:lnTo>
                <a:lnTo>
                  <a:pt x="0" y="13084"/>
                </a:lnTo>
                <a:lnTo>
                  <a:pt x="0" y="78051"/>
                </a:lnTo>
                <a:lnTo>
                  <a:pt x="6251" y="119999"/>
                </a:lnTo>
                <a:lnTo>
                  <a:pt x="98274" y="119999"/>
                </a:lnTo>
                <a:lnTo>
                  <a:pt x="120000" y="110377"/>
                </a:lnTo>
                <a:lnTo>
                  <a:pt x="120000" y="83794"/>
                </a:lnTo>
                <a:lnTo>
                  <a:pt x="107511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82760" y="1597680"/>
            <a:ext cx="599832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3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Google Shape;36;p5" descr="kdg-logo-horizontal.wmf"/>
          <p:cNvPicPr/>
          <p:nvPr/>
        </p:nvPicPr>
        <p:blipFill>
          <a:blip r:embed="rId3"/>
          <a:stretch/>
        </p:blipFill>
        <p:spPr>
          <a:xfrm>
            <a:off x="595440" y="4223520"/>
            <a:ext cx="1755000" cy="4032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136" name="PlaceHolder 1"/>
          <p:cNvSpPr>
            <a:spLocks noGrp="1"/>
          </p:cNvSpPr>
          <p:nvPr>
            <p:ph type="body"/>
          </p:nvPr>
        </p:nvSpPr>
        <p:spPr>
          <a:xfrm>
            <a:off x="578880" y="1422720"/>
            <a:ext cx="8025120" cy="30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78880" y="407520"/>
            <a:ext cx="802512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15"/>
          </p:nvPr>
        </p:nvSpPr>
        <p:spPr>
          <a:xfrm>
            <a:off x="7596360" y="4767120"/>
            <a:ext cx="1007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sldNum" idx="16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chemeClr val="lt1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C28129-B89E-4116-AB68-1638B744D333}" type="slidenum">
              <a:rPr b="0" lang="nl-BE" sz="1050" spc="-1" strike="noStrike">
                <a:solidFill>
                  <a:schemeClr val="lt1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40" name="Google Shape;42;p6" descr=""/>
          <p:cNvPicPr/>
          <p:nvPr/>
        </p:nvPicPr>
        <p:blipFill>
          <a:blip r:embed="rId3"/>
          <a:stretch/>
        </p:blipFill>
        <p:spPr>
          <a:xfrm>
            <a:off x="0" y="4413240"/>
            <a:ext cx="799920" cy="731520"/>
          </a:xfrm>
          <a:prstGeom prst="rect">
            <a:avLst/>
          </a:prstGeom>
          <a:ln w="0">
            <a:noFill/>
          </a:ln>
        </p:spPr>
      </p:pic>
      <p:sp>
        <p:nvSpPr>
          <p:cNvPr id="141" name="PlaceHolder 5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4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dt" idx="17"/>
          </p:nvPr>
        </p:nvSpPr>
        <p:spPr>
          <a:xfrm>
            <a:off x="7596360" y="4767120"/>
            <a:ext cx="1007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ldNum" idx="18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0446DE-52B8-48D6-9DDF-87E7C1615F2F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3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004080" y="1422720"/>
            <a:ext cx="2599920" cy="3154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578880" y="1420560"/>
            <a:ext cx="500076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dt" idx="19"/>
          </p:nvPr>
        </p:nvSpPr>
        <p:spPr>
          <a:xfrm>
            <a:off x="7596360" y="4767120"/>
            <a:ext cx="1007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sldNum" idx="20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6D2CE2-5A9D-48E3-B928-5603B5BEBF69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78880" y="1441440"/>
            <a:ext cx="386604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4737960" y="1441440"/>
            <a:ext cx="386604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dt" idx="21"/>
          </p:nvPr>
        </p:nvSpPr>
        <p:spPr>
          <a:xfrm>
            <a:off x="7596360" y="4767120"/>
            <a:ext cx="1007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sldNum" idx="22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AE7E87-DAB1-41B9-A307-4F84CA0E2314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4;p1" descr=""/>
          <p:cNvPicPr/>
          <p:nvPr/>
        </p:nvPicPr>
        <p:blipFill>
          <a:blip r:embed="rId2"/>
          <a:stretch/>
        </p:blipFill>
        <p:spPr>
          <a:xfrm>
            <a:off x="0" y="4408560"/>
            <a:ext cx="827280" cy="754920"/>
          </a:xfrm>
          <a:prstGeom prst="rect">
            <a:avLst/>
          </a:prstGeom>
          <a:ln w="0">
            <a:noFill/>
          </a:ln>
        </p:spPr>
      </p:pic>
      <p:sp>
        <p:nvSpPr>
          <p:cNvPr id="158" name="PlaceHolder 1"/>
          <p:cNvSpPr>
            <a:spLocks noGrp="1"/>
          </p:cNvSpPr>
          <p:nvPr>
            <p:ph type="body"/>
          </p:nvPr>
        </p:nvSpPr>
        <p:spPr>
          <a:xfrm>
            <a:off x="578880" y="1441440"/>
            <a:ext cx="251964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3331800" y="1441440"/>
            <a:ext cx="251964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6084360" y="1441440"/>
            <a:ext cx="251964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dt" idx="23"/>
          </p:nvPr>
        </p:nvSpPr>
        <p:spPr>
          <a:xfrm>
            <a:off x="7596360" y="4767120"/>
            <a:ext cx="1007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sldNum" idx="24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C8D373-D3B2-4878-8FF6-4CAB372FD169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82760" y="1597680"/>
            <a:ext cx="63280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72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nl-BE" sz="3700" spc="-1" strike="noStrike">
                <a:solidFill>
                  <a:schemeClr val="dk1"/>
                </a:solidFill>
                <a:latin typeface="Verdana"/>
                <a:ea typeface="Verdana"/>
              </a:rPr>
              <a:t>Operating system Fundamentals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482760" y="2741040"/>
            <a:ext cx="6018480" cy="13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720" anchor="t">
            <a:noAutofit/>
          </a:bodyPr>
          <a:p>
            <a:pPr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Ch 08 Scripts part 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/>
          </p:nvPr>
        </p:nvSpPr>
        <p:spPr>
          <a:xfrm>
            <a:off x="578880" y="1422720"/>
            <a:ext cx="8025120" cy="30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55680">
              <a:lnSpc>
                <a:spcPct val="114000"/>
              </a:lnSpc>
              <a:spcBef>
                <a:spcPts val="300"/>
              </a:spcBef>
              <a:buClr>
                <a:srgbClr val="ffffff"/>
              </a:buClr>
              <a:buFont typeface="Verdana"/>
              <a:buChar char="●"/>
            </a:pPr>
            <a:r>
              <a:rPr b="0" lang="nl-BE" sz="2000" spc="-1" strike="noStrike">
                <a:solidFill>
                  <a:schemeClr val="lt1"/>
                </a:solidFill>
                <a:latin typeface="Verdana"/>
                <a:ea typeface="Verdana"/>
              </a:rPr>
              <a:t>recap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4000"/>
              </a:lnSpc>
              <a:buClr>
                <a:srgbClr val="ffffff"/>
              </a:buClr>
              <a:buFont typeface="Verdana"/>
              <a:buChar char="●"/>
            </a:pPr>
            <a:r>
              <a:rPr b="0" lang="nl-BE" sz="2000" spc="-1" strike="noStrike">
                <a:solidFill>
                  <a:schemeClr val="lt1"/>
                </a:solidFill>
                <a:latin typeface="Verdana"/>
                <a:ea typeface="Verdana"/>
              </a:rPr>
              <a:t>simple scripts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4000"/>
              </a:lnSpc>
              <a:buClr>
                <a:srgbClr val="ffffff"/>
              </a:buClr>
              <a:buFont typeface="Verdana"/>
              <a:buChar char="●"/>
            </a:pPr>
            <a:r>
              <a:rPr b="0" lang="nl-BE" sz="2000" spc="-1" strike="noStrike">
                <a:solidFill>
                  <a:schemeClr val="lt1"/>
                </a:solidFill>
                <a:latin typeface="Verdana"/>
                <a:ea typeface="Verdana"/>
              </a:rPr>
              <a:t>variables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4000"/>
              </a:lnSpc>
              <a:buClr>
                <a:srgbClr val="ffffff"/>
              </a:buClr>
              <a:buFont typeface="Verdana"/>
              <a:buChar char="●"/>
            </a:pPr>
            <a:r>
              <a:rPr b="0" lang="nl-BE" sz="2000" spc="-1" strike="noStrike">
                <a:solidFill>
                  <a:schemeClr val="lt1"/>
                </a:solidFill>
                <a:latin typeface="Verdana"/>
                <a:ea typeface="Verdana"/>
              </a:rPr>
              <a:t>back quotes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4000"/>
              </a:lnSpc>
              <a:buClr>
                <a:srgbClr val="ffffff"/>
              </a:buClr>
              <a:buFont typeface="Verdana"/>
              <a:buChar char="●"/>
            </a:pPr>
            <a:r>
              <a:rPr b="0" lang="nl-BE" sz="2000" spc="-1" strike="noStrike">
                <a:solidFill>
                  <a:schemeClr val="lt1"/>
                </a:solidFill>
                <a:latin typeface="Verdana"/>
                <a:ea typeface="Verdana"/>
              </a:rPr>
              <a:t>arguments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4000"/>
              </a:lnSpc>
              <a:buClr>
                <a:srgbClr val="ffffff"/>
              </a:buClr>
              <a:buFont typeface="Verdana"/>
              <a:buChar char="●"/>
            </a:pPr>
            <a:r>
              <a:rPr b="0" lang="nl-BE" sz="2000" spc="-1" strike="noStrike">
                <a:solidFill>
                  <a:schemeClr val="lt1"/>
                </a:solidFill>
                <a:latin typeface="Verdana"/>
                <a:ea typeface="Verdana"/>
              </a:rPr>
              <a:t>log files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216000">
              <a:lnSpc>
                <a:spcPct val="114000"/>
              </a:lnSpc>
              <a:spcBef>
                <a:spcPts val="7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78880" y="407520"/>
            <a:ext cx="802512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1" lang="nl-BE" sz="2100" spc="-1" strike="noStrike">
                <a:solidFill>
                  <a:schemeClr val="lt1"/>
                </a:solidFill>
                <a:latin typeface="Verdana"/>
                <a:ea typeface="Verdana"/>
              </a:rPr>
              <a:t>Contents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28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chemeClr val="lt1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75AA96-0293-45B9-80AE-EA7C8838C537}" type="slidenum">
              <a:rPr b="0" lang="nl-BE" sz="1050" spc="-1" strike="noStrike">
                <a:solidFill>
                  <a:schemeClr val="lt1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412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nl-BE" sz="3200" spc="-1" strike="noStrike">
                <a:solidFill>
                  <a:schemeClr val="dk1"/>
                </a:solidFill>
                <a:latin typeface="Verdana"/>
                <a:ea typeface="Verdana"/>
              </a:rPr>
              <a:t>Recap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Linux command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78880" y="1441440"/>
            <a:ext cx="8460000" cy="346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556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Every command is a programme</a:t>
            </a:r>
            <a:br>
              <a:rPr sz="2000"/>
            </a:br>
            <a:r>
              <a:rPr b="0" lang="en-US" sz="2000" spc="-1" strike="noStrike">
                <a:solidFill>
                  <a:schemeClr val="dk1"/>
                </a:solidFill>
                <a:latin typeface="Verdana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Every command has two inputs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standard input (System.in)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command-line parameters (and options)  (args)</a:t>
            </a: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Verdana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Every command has three outputs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standard output (System.out)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standard error (System.err)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exit code (System.exit())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29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F4939F-28BB-4A50-A4DD-BCE3297A1098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78184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public static void main(</a:t>
            </a:r>
            <a:r>
              <a:rPr b="0" lang="nl-BE" sz="19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String[] args</a:t>
            </a: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) {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 </a:t>
            </a: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if (args.length != 0) {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19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   </a:t>
            </a:r>
            <a:r>
              <a:rPr b="0" lang="nl-BE" sz="19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System.err.</a:t>
            </a: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println("Error! Do not provide parameters\n");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19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   </a:t>
            </a:r>
            <a:r>
              <a:rPr b="0" lang="nl-BE" sz="19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System.exit(1)</a:t>
            </a: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;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 </a:t>
            </a: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}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 </a:t>
            </a: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String s;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 </a:t>
            </a: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s = new Scanner(</a:t>
            </a:r>
            <a:r>
              <a:rPr b="0" lang="nl-BE" sz="19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System.in)</a:t>
            </a: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.nextLine();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19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 </a:t>
            </a:r>
            <a:r>
              <a:rPr b="0" lang="nl-BE" sz="19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System.out.</a:t>
            </a: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printf("You entered the string '%s'\n", s);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nl-BE" sz="1900" spc="-1" strike="noStrike">
                <a:solidFill>
                  <a:schemeClr val="dk1"/>
                </a:solidFill>
                <a:latin typeface="Consolas"/>
                <a:ea typeface="Consolas"/>
              </a:rPr>
              <a:t>}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Example in Java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30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BAB1DB-5ED5-406A-AC18-9648F3ADED93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9168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#include &lt;stdio.h&gt;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int main(</a:t>
            </a:r>
            <a:r>
              <a:rPr b="0" lang="nl-BE" sz="20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int argc, char** argv</a:t>
            </a: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) {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  </a:t>
            </a: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if (argc != 1) {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    </a:t>
            </a: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fprintf(</a:t>
            </a:r>
            <a:r>
              <a:rPr b="0" lang="nl-BE" sz="20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stderr, "</a:t>
            </a: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Error! Do not provide parameters\n");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    </a:t>
            </a:r>
            <a:r>
              <a:rPr b="0" lang="nl-BE" sz="20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return 1;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  </a:t>
            </a: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  </a:t>
            </a: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char s[100];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  </a:t>
            </a:r>
            <a:r>
              <a:rPr b="0" lang="nl-BE" sz="20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scanf("</a:t>
            </a: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%s", s);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  </a:t>
            </a:r>
            <a:r>
              <a:rPr b="0" lang="nl-BE" sz="20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printf("</a:t>
            </a: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You entered the string '%s'\n", s);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  </a:t>
            </a:r>
            <a:r>
              <a:rPr b="0" lang="nl-BE" sz="2000" spc="-1" strike="no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</a:rPr>
              <a:t>return 0;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Consolas"/>
              </a:rPr>
              <a:t>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Example in 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31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71929F-9F68-44C7-9F86-FF5CAF4BEBA2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Unix command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ldNum" idx="32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5EA79F-AD1C-402E-9D60-75A3E83CCD5D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Google Shape;220;p40"/>
          <p:cNvSpPr/>
          <p:nvPr/>
        </p:nvSpPr>
        <p:spPr>
          <a:xfrm>
            <a:off x="648000" y="1834560"/>
            <a:ext cx="1259640" cy="539640"/>
          </a:xfrm>
          <a:prstGeom prst="rect">
            <a:avLst/>
          </a:prstGeom>
          <a:solidFill>
            <a:srgbClr val="0084d1"/>
          </a:solidFill>
          <a:ln w="9525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Arial"/>
                <a:ea typeface="Arial"/>
              </a:rPr>
              <a:t>bash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88" name="Google Shape;221;p40"/>
          <p:cNvCxnSpPr>
            <a:stCxn id="189" idx="3"/>
            <a:endCxn id="190" idx="1"/>
          </p:cNvCxnSpPr>
          <p:nvPr/>
        </p:nvCxnSpPr>
        <p:spPr>
          <a:xfrm flipV="1">
            <a:off x="2025720" y="3264840"/>
            <a:ext cx="1337040" cy="61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91" name="Google Shape;224;p40"/>
          <p:cNvCxnSpPr>
            <a:stCxn id="187" idx="3"/>
            <a:endCxn id="192" idx="0"/>
          </p:cNvCxnSpPr>
          <p:nvPr/>
        </p:nvCxnSpPr>
        <p:spPr>
          <a:xfrm>
            <a:off x="1907640" y="2104200"/>
            <a:ext cx="2086200" cy="431280"/>
          </a:xfrm>
          <a:prstGeom prst="bentConnector2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93" name="Google Shape;226;p40"/>
          <p:cNvSpPr/>
          <p:nvPr/>
        </p:nvSpPr>
        <p:spPr>
          <a:xfrm>
            <a:off x="7344360" y="1844640"/>
            <a:ext cx="1259640" cy="539640"/>
          </a:xfrm>
          <a:prstGeom prst="rect">
            <a:avLst/>
          </a:prstGeom>
          <a:solidFill>
            <a:srgbClr val="0084d1"/>
          </a:solidFill>
          <a:ln w="9525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Arial"/>
                <a:ea typeface="Arial"/>
              </a:rPr>
              <a:t>bash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4" name="Google Shape;227;p40"/>
          <p:cNvCxnSpPr>
            <a:stCxn id="195" idx="0"/>
            <a:endCxn id="193" idx="1"/>
          </p:cNvCxnSpPr>
          <p:nvPr/>
        </p:nvCxnSpPr>
        <p:spPr>
          <a:xfrm flipH="1" flipV="1" rot="5400000">
            <a:off x="6138000" y="1320840"/>
            <a:ext cx="412920" cy="2000160"/>
          </a:xfrm>
          <a:prstGeom prst="bentConnector2">
            <a:avLst/>
          </a:prstGeom>
          <a:ln w="9525">
            <a:solidFill>
              <a:srgbClr val="0094ba"/>
            </a:solidFill>
            <a:round/>
            <a:tailEnd len="med" type="triangle" w="med"/>
          </a:ln>
        </p:spPr>
      </p:cxnSp>
      <p:sp>
        <p:nvSpPr>
          <p:cNvPr id="196" name="Google Shape;229;p40"/>
          <p:cNvSpPr/>
          <p:nvPr/>
        </p:nvSpPr>
        <p:spPr>
          <a:xfrm>
            <a:off x="1960200" y="1488960"/>
            <a:ext cx="225000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parameters (arguments)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230;p40"/>
          <p:cNvSpPr/>
          <p:nvPr/>
        </p:nvSpPr>
        <p:spPr>
          <a:xfrm>
            <a:off x="5418360" y="1764360"/>
            <a:ext cx="225000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exit code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Google Shape;231;p40"/>
          <p:cNvSpPr/>
          <p:nvPr/>
        </p:nvSpPr>
        <p:spPr>
          <a:xfrm>
            <a:off x="2064240" y="2895480"/>
            <a:ext cx="12596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stdin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Google Shape;232;p40"/>
          <p:cNvSpPr/>
          <p:nvPr/>
        </p:nvSpPr>
        <p:spPr>
          <a:xfrm>
            <a:off x="6116040" y="2895480"/>
            <a:ext cx="12423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stdout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233;p40"/>
          <p:cNvSpPr/>
          <p:nvPr/>
        </p:nvSpPr>
        <p:spPr>
          <a:xfrm>
            <a:off x="6184440" y="4370040"/>
            <a:ext cx="1003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stderr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Google Shape;234;p40"/>
          <p:cNvSpPr/>
          <p:nvPr/>
        </p:nvSpPr>
        <p:spPr>
          <a:xfrm>
            <a:off x="7427880" y="3994560"/>
            <a:ext cx="1260000" cy="53964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700" spc="-1" strike="noStrike">
                <a:solidFill>
                  <a:schemeClr val="lt1"/>
                </a:solidFill>
                <a:highlight>
                  <a:srgbClr val="000000"/>
                </a:highlight>
                <a:latin typeface="Verdana"/>
                <a:ea typeface="Verdana"/>
              </a:rPr>
              <a:t>console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Google Shape;222;p40"/>
          <p:cNvSpPr/>
          <p:nvPr/>
        </p:nvSpPr>
        <p:spPr>
          <a:xfrm>
            <a:off x="765720" y="3000960"/>
            <a:ext cx="1260000" cy="53964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700" spc="-1" strike="noStrike">
                <a:solidFill>
                  <a:schemeClr val="lt1"/>
                </a:solidFill>
                <a:highlight>
                  <a:srgbClr val="000000"/>
                </a:highlight>
                <a:latin typeface="Verdana"/>
                <a:ea typeface="Verdana"/>
              </a:rPr>
              <a:t>console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2" name="Google Shape;235;p40"/>
          <p:cNvCxnSpPr>
            <a:stCxn id="203" idx="2"/>
            <a:endCxn id="201" idx="2"/>
          </p:cNvCxnSpPr>
          <p:nvPr/>
        </p:nvCxnSpPr>
        <p:spPr>
          <a:xfrm flipH="1" rot="16200000">
            <a:off x="6328080" y="2804400"/>
            <a:ext cx="540360" cy="2919600"/>
          </a:xfrm>
          <a:prstGeom prst="bentConnector3">
            <a:avLst>
              <a:gd name="adj1" fmla="val 144133"/>
            </a:avLst>
          </a:prstGeom>
          <a:ln w="19050">
            <a:solidFill>
              <a:srgbClr val="ff4000"/>
            </a:solidFill>
            <a:round/>
            <a:tailEnd len="med" type="triangle" w="med"/>
          </a:ln>
        </p:spPr>
      </p:cxnSp>
      <p:grpSp>
        <p:nvGrpSpPr>
          <p:cNvPr id="204" name="Google Shape;237;p40"/>
          <p:cNvGrpSpPr/>
          <p:nvPr/>
        </p:nvGrpSpPr>
        <p:grpSpPr>
          <a:xfrm>
            <a:off x="3362400" y="2526840"/>
            <a:ext cx="2715120" cy="1467720"/>
            <a:chOff x="3362400" y="2526840"/>
            <a:chExt cx="2715120" cy="1467720"/>
          </a:xfrm>
        </p:grpSpPr>
        <p:sp>
          <p:nvSpPr>
            <p:cNvPr id="190" name="Google Shape;223;p40"/>
            <p:cNvSpPr/>
            <p:nvPr/>
          </p:nvSpPr>
          <p:spPr>
            <a:xfrm>
              <a:off x="3362400" y="2535120"/>
              <a:ext cx="2715120" cy="1459440"/>
            </a:xfrm>
            <a:prstGeom prst="roundRect">
              <a:avLst>
                <a:gd name="adj" fmla="val 16667"/>
              </a:avLst>
            </a:prstGeom>
            <a:solidFill>
              <a:srgbClr val="00ff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nl-BE" sz="2100" spc="-1" strike="noStrike">
                  <a:solidFill>
                    <a:srgbClr val="000000"/>
                  </a:solidFill>
                  <a:latin typeface="Verdana"/>
                  <a:ea typeface="Verdana"/>
                </a:rPr>
                <a:t>executable</a:t>
              </a:r>
              <a:endParaRPr b="0" lang="en-US" sz="21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" name="Google Shape;236;p40"/>
            <p:cNvSpPr/>
            <p:nvPr/>
          </p:nvSpPr>
          <p:spPr>
            <a:xfrm>
              <a:off x="5000040" y="3815640"/>
              <a:ext cx="277200" cy="17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280" bIns="892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Verdana"/>
                <a:ea typeface="Verdana"/>
              </a:endParaRPr>
            </a:p>
          </p:txBody>
        </p:sp>
        <p:sp>
          <p:nvSpPr>
            <p:cNvPr id="195" name="Google Shape;228;p40"/>
            <p:cNvSpPr/>
            <p:nvPr/>
          </p:nvSpPr>
          <p:spPr>
            <a:xfrm>
              <a:off x="5205960" y="2526840"/>
              <a:ext cx="277200" cy="17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280" bIns="892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Verdana"/>
                <a:ea typeface="Verdana"/>
              </a:endParaRPr>
            </a:p>
          </p:txBody>
        </p:sp>
        <p:sp>
          <p:nvSpPr>
            <p:cNvPr id="192" name="Google Shape;225;p40"/>
            <p:cNvSpPr/>
            <p:nvPr/>
          </p:nvSpPr>
          <p:spPr>
            <a:xfrm>
              <a:off x="3854880" y="2535120"/>
              <a:ext cx="277200" cy="17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280" bIns="892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Verdana"/>
                <a:ea typeface="Verdana"/>
              </a:endParaRPr>
            </a:p>
          </p:txBody>
        </p:sp>
      </p:grpSp>
      <p:cxnSp>
        <p:nvCxnSpPr>
          <p:cNvPr id="205" name="Google Shape;238;p40"/>
          <p:cNvCxnSpPr>
            <a:stCxn id="190" idx="3"/>
            <a:endCxn id="201" idx="0"/>
          </p:cNvCxnSpPr>
          <p:nvPr/>
        </p:nvCxnSpPr>
        <p:spPr>
          <a:xfrm>
            <a:off x="6077520" y="3264840"/>
            <a:ext cx="1980720" cy="730080"/>
          </a:xfrm>
          <a:prstGeom prst="bentConnector2">
            <a:avLst/>
          </a:prstGeom>
          <a:ln w="19050">
            <a:solidFill>
              <a:srgbClr val="7ab82c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echo "bla" &gt;test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sldNum" idx="33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3AEC26-BDBD-43E1-8F01-11B1E365D2BF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Google Shape;246;p41"/>
          <p:cNvSpPr/>
          <p:nvPr/>
        </p:nvSpPr>
        <p:spPr>
          <a:xfrm>
            <a:off x="648000" y="1834560"/>
            <a:ext cx="1259640" cy="539640"/>
          </a:xfrm>
          <a:prstGeom prst="rect">
            <a:avLst/>
          </a:prstGeom>
          <a:solidFill>
            <a:srgbClr val="0084d1"/>
          </a:solidFill>
          <a:ln w="9525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Arial"/>
                <a:ea typeface="Arial"/>
              </a:rPr>
              <a:t>bash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9" name="Google Shape;247;p41"/>
          <p:cNvCxnSpPr>
            <a:stCxn id="210" idx="3"/>
            <a:endCxn id="211" idx="1"/>
          </p:cNvCxnSpPr>
          <p:nvPr/>
        </p:nvCxnSpPr>
        <p:spPr>
          <a:xfrm flipV="1">
            <a:off x="2025720" y="3264840"/>
            <a:ext cx="1337040" cy="61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12" name="Google Shape;250;p41"/>
          <p:cNvCxnSpPr>
            <a:stCxn id="208" idx="3"/>
            <a:endCxn id="213" idx="0"/>
          </p:cNvCxnSpPr>
          <p:nvPr/>
        </p:nvCxnSpPr>
        <p:spPr>
          <a:xfrm>
            <a:off x="1907640" y="2104200"/>
            <a:ext cx="2086200" cy="431280"/>
          </a:xfrm>
          <a:prstGeom prst="bentConnector2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14" name="Google Shape;252;p41"/>
          <p:cNvSpPr/>
          <p:nvPr/>
        </p:nvSpPr>
        <p:spPr>
          <a:xfrm>
            <a:off x="7344360" y="1844640"/>
            <a:ext cx="1259640" cy="539640"/>
          </a:xfrm>
          <a:prstGeom prst="rect">
            <a:avLst/>
          </a:prstGeom>
          <a:solidFill>
            <a:srgbClr val="0084d1"/>
          </a:solidFill>
          <a:ln w="9525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Arial"/>
                <a:ea typeface="Arial"/>
              </a:rPr>
              <a:t>bash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5" name="Google Shape;253;p41"/>
          <p:cNvCxnSpPr>
            <a:stCxn id="216" idx="0"/>
            <a:endCxn id="214" idx="1"/>
          </p:cNvCxnSpPr>
          <p:nvPr/>
        </p:nvCxnSpPr>
        <p:spPr>
          <a:xfrm flipH="1" flipV="1" rot="5400000">
            <a:off x="6138000" y="1320840"/>
            <a:ext cx="412920" cy="2000160"/>
          </a:xfrm>
          <a:prstGeom prst="bentConnector2">
            <a:avLst/>
          </a:prstGeom>
          <a:ln w="9525">
            <a:solidFill>
              <a:srgbClr val="0094ba"/>
            </a:solidFill>
            <a:round/>
            <a:tailEnd len="med" type="triangle" w="med"/>
          </a:ln>
        </p:spPr>
      </p:cxnSp>
      <p:sp>
        <p:nvSpPr>
          <p:cNvPr id="217" name="Google Shape;255;p41"/>
          <p:cNvSpPr/>
          <p:nvPr/>
        </p:nvSpPr>
        <p:spPr>
          <a:xfrm>
            <a:off x="1908000" y="1705680"/>
            <a:ext cx="225000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"bla"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256;p41"/>
          <p:cNvSpPr/>
          <p:nvPr/>
        </p:nvSpPr>
        <p:spPr>
          <a:xfrm>
            <a:off x="5418360" y="1764360"/>
            <a:ext cx="225000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exit code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Google Shape;257;p41"/>
          <p:cNvSpPr/>
          <p:nvPr/>
        </p:nvSpPr>
        <p:spPr>
          <a:xfrm>
            <a:off x="2064240" y="2895480"/>
            <a:ext cx="12596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stdin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(empty)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258;p41"/>
          <p:cNvSpPr/>
          <p:nvPr/>
        </p:nvSpPr>
        <p:spPr>
          <a:xfrm>
            <a:off x="6116040" y="2895480"/>
            <a:ext cx="12423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"bla"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Google Shape;259;p41"/>
          <p:cNvSpPr/>
          <p:nvPr/>
        </p:nvSpPr>
        <p:spPr>
          <a:xfrm>
            <a:off x="6184440" y="4370040"/>
            <a:ext cx="1003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stderr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260;p41"/>
          <p:cNvSpPr/>
          <p:nvPr/>
        </p:nvSpPr>
        <p:spPr>
          <a:xfrm>
            <a:off x="7427880" y="3994560"/>
            <a:ext cx="1260000" cy="53964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700" spc="-1" strike="noStrike">
                <a:solidFill>
                  <a:schemeClr val="lt1"/>
                </a:solidFill>
                <a:highlight>
                  <a:srgbClr val="000000"/>
                </a:highlight>
                <a:latin typeface="Verdana"/>
                <a:ea typeface="Verdana"/>
              </a:rPr>
              <a:t>console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Google Shape;248;p41"/>
          <p:cNvSpPr/>
          <p:nvPr/>
        </p:nvSpPr>
        <p:spPr>
          <a:xfrm>
            <a:off x="765720" y="3000960"/>
            <a:ext cx="1260000" cy="53964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700" spc="-1" strike="noStrike">
                <a:solidFill>
                  <a:schemeClr val="lt1"/>
                </a:solidFill>
                <a:highlight>
                  <a:srgbClr val="000000"/>
                </a:highlight>
                <a:latin typeface="Verdana"/>
                <a:ea typeface="Verdana"/>
              </a:rPr>
              <a:t>console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23" name="Google Shape;261;p41"/>
          <p:cNvCxnSpPr>
            <a:stCxn id="224" idx="2"/>
            <a:endCxn id="222" idx="2"/>
          </p:cNvCxnSpPr>
          <p:nvPr/>
        </p:nvCxnSpPr>
        <p:spPr>
          <a:xfrm flipH="1" rot="16200000">
            <a:off x="6328080" y="2804400"/>
            <a:ext cx="540360" cy="2919600"/>
          </a:xfrm>
          <a:prstGeom prst="bentConnector3">
            <a:avLst>
              <a:gd name="adj1" fmla="val 144133"/>
            </a:avLst>
          </a:prstGeom>
          <a:ln w="19050">
            <a:solidFill>
              <a:srgbClr val="ff4000"/>
            </a:solidFill>
            <a:round/>
            <a:tailEnd len="med" type="triangle" w="med"/>
          </a:ln>
        </p:spPr>
      </p:cxnSp>
      <p:sp>
        <p:nvSpPr>
          <p:cNvPr id="225" name="Google Shape;263;p41"/>
          <p:cNvSpPr/>
          <p:nvPr/>
        </p:nvSpPr>
        <p:spPr>
          <a:xfrm>
            <a:off x="7337880" y="2964600"/>
            <a:ext cx="1272960" cy="592200"/>
          </a:xfrm>
          <a:prstGeom prst="flowChartManualOperation">
            <a:avLst/>
          </a:prstGeom>
          <a:solidFill>
            <a:srgbClr val="f6b26b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Verdana"/>
                <a:ea typeface="Verdana"/>
              </a:rPr>
              <a:t>test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6" name="Google Shape;264;p41"/>
          <p:cNvCxnSpPr>
            <a:stCxn id="211" idx="3"/>
            <a:endCxn id="225" idx="1"/>
          </p:cNvCxnSpPr>
          <p:nvPr/>
        </p:nvCxnSpPr>
        <p:spPr>
          <a:xfrm flipV="1">
            <a:off x="6077520" y="3260520"/>
            <a:ext cx="1260720" cy="4680"/>
          </a:xfrm>
          <a:prstGeom prst="straightConnector1">
            <a:avLst/>
          </a:prstGeom>
          <a:ln w="19050">
            <a:solidFill>
              <a:srgbClr val="7ab82c"/>
            </a:solidFill>
            <a:round/>
            <a:tailEnd len="med" type="triangle" w="med"/>
          </a:ln>
        </p:spPr>
      </p:cxnSp>
      <p:grpSp>
        <p:nvGrpSpPr>
          <p:cNvPr id="227" name="Google Shape;265;p41"/>
          <p:cNvGrpSpPr/>
          <p:nvPr/>
        </p:nvGrpSpPr>
        <p:grpSpPr>
          <a:xfrm>
            <a:off x="3362400" y="2526840"/>
            <a:ext cx="2715120" cy="1467720"/>
            <a:chOff x="3362400" y="2526840"/>
            <a:chExt cx="2715120" cy="1467720"/>
          </a:xfrm>
        </p:grpSpPr>
        <p:sp>
          <p:nvSpPr>
            <p:cNvPr id="211" name="Google Shape;249;p41"/>
            <p:cNvSpPr/>
            <p:nvPr/>
          </p:nvSpPr>
          <p:spPr>
            <a:xfrm>
              <a:off x="3362400" y="2535120"/>
              <a:ext cx="2715120" cy="1459440"/>
            </a:xfrm>
            <a:prstGeom prst="roundRect">
              <a:avLst>
                <a:gd name="adj" fmla="val 16667"/>
              </a:avLst>
            </a:prstGeom>
            <a:solidFill>
              <a:srgbClr val="00ff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nl-BE" sz="2100" spc="-1" strike="noStrike">
                  <a:solidFill>
                    <a:srgbClr val="000000"/>
                  </a:solidFill>
                  <a:latin typeface="Verdana"/>
                  <a:ea typeface="Verdana"/>
                </a:rPr>
                <a:t>echo</a:t>
              </a:r>
              <a:endParaRPr b="0" lang="en-US" sz="21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4" name="Google Shape;262;p41"/>
            <p:cNvSpPr/>
            <p:nvPr/>
          </p:nvSpPr>
          <p:spPr>
            <a:xfrm>
              <a:off x="5000040" y="3815640"/>
              <a:ext cx="277200" cy="17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280" bIns="892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Verdana"/>
                <a:ea typeface="Verdana"/>
              </a:endParaRPr>
            </a:p>
          </p:txBody>
        </p:sp>
        <p:sp>
          <p:nvSpPr>
            <p:cNvPr id="216" name="Google Shape;254;p41"/>
            <p:cNvSpPr/>
            <p:nvPr/>
          </p:nvSpPr>
          <p:spPr>
            <a:xfrm>
              <a:off x="5205960" y="2526840"/>
              <a:ext cx="277200" cy="17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280" bIns="892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Verdana"/>
                <a:ea typeface="Verdana"/>
              </a:endParaRPr>
            </a:p>
          </p:txBody>
        </p:sp>
        <p:sp>
          <p:nvSpPr>
            <p:cNvPr id="213" name="Google Shape;251;p41"/>
            <p:cNvSpPr/>
            <p:nvPr/>
          </p:nvSpPr>
          <p:spPr>
            <a:xfrm>
              <a:off x="3854880" y="2535120"/>
              <a:ext cx="277200" cy="17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280" bIns="892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Verdana"/>
                <a:ea typeface="Verdana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cat file | grep -E "bla" 2&gt;/dev/null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sldNum" idx="34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A02030-928E-4DCA-B997-42C1CBCB005E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Google Shape;273;p42"/>
          <p:cNvSpPr/>
          <p:nvPr/>
        </p:nvSpPr>
        <p:spPr>
          <a:xfrm>
            <a:off x="648000" y="1148760"/>
            <a:ext cx="1259640" cy="539640"/>
          </a:xfrm>
          <a:prstGeom prst="rect">
            <a:avLst/>
          </a:prstGeom>
          <a:solidFill>
            <a:srgbClr val="0084d1"/>
          </a:solidFill>
          <a:ln w="9525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Arial"/>
                <a:ea typeface="Arial"/>
              </a:rPr>
              <a:t>bash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1" name="Google Shape;274;p42"/>
          <p:cNvCxnSpPr>
            <a:stCxn id="232" idx="3"/>
            <a:endCxn id="233" idx="1"/>
          </p:cNvCxnSpPr>
          <p:nvPr/>
        </p:nvCxnSpPr>
        <p:spPr>
          <a:xfrm flipV="1">
            <a:off x="1817640" y="2824200"/>
            <a:ext cx="849240" cy="18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34" name="Google Shape;277;p42"/>
          <p:cNvCxnSpPr>
            <a:stCxn id="230" idx="3"/>
            <a:endCxn id="235" idx="0"/>
          </p:cNvCxnSpPr>
          <p:nvPr/>
        </p:nvCxnSpPr>
        <p:spPr>
          <a:xfrm>
            <a:off x="1907640" y="1418400"/>
            <a:ext cx="3768840" cy="802080"/>
          </a:xfrm>
          <a:prstGeom prst="bentConnector2">
            <a:avLst/>
          </a:prstGeom>
          <a:ln w="9525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36" name="Google Shape;279;p42"/>
          <p:cNvSpPr/>
          <p:nvPr/>
        </p:nvSpPr>
        <p:spPr>
          <a:xfrm>
            <a:off x="7418520" y="1148760"/>
            <a:ext cx="1259640" cy="539640"/>
          </a:xfrm>
          <a:prstGeom prst="rect">
            <a:avLst/>
          </a:prstGeom>
          <a:solidFill>
            <a:srgbClr val="0084d1"/>
          </a:solidFill>
          <a:ln w="9525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Arial"/>
                <a:ea typeface="Arial"/>
              </a:rPr>
              <a:t>bash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7" name="Google Shape;280;p42"/>
          <p:cNvCxnSpPr>
            <a:stCxn id="238" idx="0"/>
            <a:endCxn id="236" idx="1"/>
          </p:cNvCxnSpPr>
          <p:nvPr/>
        </p:nvCxnSpPr>
        <p:spPr>
          <a:xfrm flipH="1" flipV="1" rot="5400000">
            <a:off x="6606720" y="1397520"/>
            <a:ext cx="790920" cy="833040"/>
          </a:xfrm>
          <a:prstGeom prst="bentConnector2">
            <a:avLst/>
          </a:prstGeom>
          <a:ln w="9525">
            <a:solidFill>
              <a:srgbClr val="0094ba"/>
            </a:solidFill>
            <a:round/>
            <a:tailEnd len="med" type="triangle" w="med"/>
          </a:ln>
        </p:spPr>
      </p:cxnSp>
      <p:sp>
        <p:nvSpPr>
          <p:cNvPr id="239" name="Google Shape;282;p42"/>
          <p:cNvSpPr/>
          <p:nvPr/>
        </p:nvSpPr>
        <p:spPr>
          <a:xfrm>
            <a:off x="1755720" y="1019880"/>
            <a:ext cx="225000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"bla"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283;p42"/>
          <p:cNvSpPr/>
          <p:nvPr/>
        </p:nvSpPr>
        <p:spPr>
          <a:xfrm>
            <a:off x="5429160" y="1019880"/>
            <a:ext cx="159660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exit codes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284;p42"/>
          <p:cNvSpPr/>
          <p:nvPr/>
        </p:nvSpPr>
        <p:spPr>
          <a:xfrm>
            <a:off x="1665360" y="2410920"/>
            <a:ext cx="1003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stdin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Google Shape;285;p42"/>
          <p:cNvSpPr/>
          <p:nvPr/>
        </p:nvSpPr>
        <p:spPr>
          <a:xfrm>
            <a:off x="7234920" y="2840760"/>
            <a:ext cx="9756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stdout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Google Shape;286;p42"/>
          <p:cNvSpPr/>
          <p:nvPr/>
        </p:nvSpPr>
        <p:spPr>
          <a:xfrm>
            <a:off x="7220880" y="3952440"/>
            <a:ext cx="1003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stderr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oogle Shape;287;p42"/>
          <p:cNvSpPr/>
          <p:nvPr/>
        </p:nvSpPr>
        <p:spPr>
          <a:xfrm>
            <a:off x="7580880" y="3308760"/>
            <a:ext cx="1260000" cy="53964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700" spc="-1" strike="noStrike">
                <a:solidFill>
                  <a:schemeClr val="lt1"/>
                </a:solidFill>
                <a:highlight>
                  <a:srgbClr val="000000"/>
                </a:highlight>
                <a:latin typeface="Verdana"/>
                <a:ea typeface="Verdana"/>
              </a:rPr>
              <a:t>console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45" name="Google Shape;288;p42"/>
          <p:cNvGrpSpPr/>
          <p:nvPr/>
        </p:nvGrpSpPr>
        <p:grpSpPr>
          <a:xfrm>
            <a:off x="5330520" y="2208960"/>
            <a:ext cx="1793520" cy="1230480"/>
            <a:chOff x="5330520" y="2208960"/>
            <a:chExt cx="1793520" cy="1230480"/>
          </a:xfrm>
        </p:grpSpPr>
        <p:sp>
          <p:nvSpPr>
            <p:cNvPr id="246" name="Google Shape;289;p42"/>
            <p:cNvSpPr/>
            <p:nvPr/>
          </p:nvSpPr>
          <p:spPr>
            <a:xfrm>
              <a:off x="5330520" y="2215800"/>
              <a:ext cx="1793520" cy="1223640"/>
            </a:xfrm>
            <a:prstGeom prst="roundRect">
              <a:avLst>
                <a:gd name="adj" fmla="val 16667"/>
              </a:avLst>
            </a:prstGeom>
            <a:solidFill>
              <a:srgbClr val="00ff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nl-BE" sz="2100" spc="-1" strike="noStrike">
                  <a:solidFill>
                    <a:srgbClr val="000000"/>
                  </a:solidFill>
                  <a:latin typeface="Verdana"/>
                  <a:ea typeface="Verdana"/>
                </a:rPr>
                <a:t>grep</a:t>
              </a:r>
              <a:endParaRPr b="0" lang="en-US" sz="21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8" name="Google Shape;281;p42"/>
            <p:cNvSpPr/>
            <p:nvPr/>
          </p:nvSpPr>
          <p:spPr>
            <a:xfrm>
              <a:off x="6484320" y="2208960"/>
              <a:ext cx="203400" cy="14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Verdana"/>
                <a:ea typeface="Verdana"/>
              </a:endParaRPr>
            </a:p>
          </p:txBody>
        </p:sp>
        <p:sp>
          <p:nvSpPr>
            <p:cNvPr id="247" name="Google Shape;290;p42"/>
            <p:cNvSpPr/>
            <p:nvPr/>
          </p:nvSpPr>
          <p:spPr>
            <a:xfrm>
              <a:off x="5492520" y="2215800"/>
              <a:ext cx="203400" cy="14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880" bIns="7488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Verdana"/>
                <a:ea typeface="Verdana"/>
              </a:endParaRPr>
            </a:p>
          </p:txBody>
        </p:sp>
      </p:grpSp>
      <p:sp>
        <p:nvSpPr>
          <p:cNvPr id="233" name="Google Shape;276;p42"/>
          <p:cNvSpPr/>
          <p:nvPr/>
        </p:nvSpPr>
        <p:spPr>
          <a:xfrm>
            <a:off x="2666520" y="2212560"/>
            <a:ext cx="1793520" cy="1223640"/>
          </a:xfrm>
          <a:prstGeom prst="roundRect">
            <a:avLst>
              <a:gd name="adj" fmla="val 16667"/>
            </a:avLst>
          </a:prstGeom>
          <a:solidFill>
            <a:srgbClr val="00ff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2100" spc="-1" strike="noStrike">
                <a:solidFill>
                  <a:srgbClr val="000000"/>
                </a:solidFill>
                <a:latin typeface="Verdana"/>
                <a:ea typeface="Verdana"/>
              </a:rPr>
              <a:t>cat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275;p42"/>
          <p:cNvSpPr/>
          <p:nvPr/>
        </p:nvSpPr>
        <p:spPr>
          <a:xfrm>
            <a:off x="544680" y="2529720"/>
            <a:ext cx="1272960" cy="592200"/>
          </a:xfrm>
          <a:prstGeom prst="flowChartManualOperation">
            <a:avLst/>
          </a:prstGeom>
          <a:solidFill>
            <a:srgbClr val="f6b26b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Verdana"/>
                <a:ea typeface="Verdana"/>
              </a:rPr>
              <a:t>file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8" name="Google Shape;291;p42"/>
          <p:cNvCxnSpPr>
            <a:stCxn id="233" idx="3"/>
            <a:endCxn id="246" idx="1"/>
          </p:cNvCxnSpPr>
          <p:nvPr/>
        </p:nvCxnSpPr>
        <p:spPr>
          <a:xfrm>
            <a:off x="4460040" y="2824200"/>
            <a:ext cx="870840" cy="36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49" name="Google Shape;292;p42"/>
          <p:cNvCxnSpPr>
            <a:stCxn id="246" idx="3"/>
            <a:endCxn id="244" idx="0"/>
          </p:cNvCxnSpPr>
          <p:nvPr/>
        </p:nvCxnSpPr>
        <p:spPr>
          <a:xfrm>
            <a:off x="7124040" y="2827440"/>
            <a:ext cx="1087200" cy="481680"/>
          </a:xfrm>
          <a:prstGeom prst="bentConnector2">
            <a:avLst/>
          </a:prstGeom>
          <a:ln w="19050">
            <a:solidFill>
              <a:srgbClr val="a9cb59"/>
            </a:solidFill>
            <a:round/>
          </a:ln>
        </p:spPr>
      </p:cxnSp>
      <p:sp>
        <p:nvSpPr>
          <p:cNvPr id="235" name="Google Shape;278;p42"/>
          <p:cNvSpPr/>
          <p:nvPr/>
        </p:nvSpPr>
        <p:spPr>
          <a:xfrm>
            <a:off x="5565960" y="2220120"/>
            <a:ext cx="2206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4880" bIns="74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  <p:cxnSp>
        <p:nvCxnSpPr>
          <p:cNvPr id="250" name="Google Shape;293;p42"/>
          <p:cNvCxnSpPr>
            <a:stCxn id="251" idx="2"/>
            <a:endCxn id="244" idx="2"/>
          </p:cNvCxnSpPr>
          <p:nvPr/>
        </p:nvCxnSpPr>
        <p:spPr>
          <a:xfrm flipH="1" rot="16200000">
            <a:off x="6016680" y="1653840"/>
            <a:ext cx="412560" cy="3976920"/>
          </a:xfrm>
          <a:prstGeom prst="bentConnector3">
            <a:avLst>
              <a:gd name="adj1" fmla="val 235633"/>
            </a:avLst>
          </a:prstGeom>
          <a:ln w="19050">
            <a:solidFill>
              <a:srgbClr val="ff4000"/>
            </a:solidFill>
            <a:round/>
            <a:tailEnd len="med" type="triangle" w="med"/>
          </a:ln>
        </p:spPr>
      </p:cxnSp>
      <p:sp>
        <p:nvSpPr>
          <p:cNvPr id="251" name="Google Shape;294;p42"/>
          <p:cNvSpPr/>
          <p:nvPr/>
        </p:nvSpPr>
        <p:spPr>
          <a:xfrm>
            <a:off x="4124160" y="3286440"/>
            <a:ext cx="2206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4880" bIns="74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  <p:sp>
        <p:nvSpPr>
          <p:cNvPr id="252" name="Google Shape;295;p42"/>
          <p:cNvSpPr/>
          <p:nvPr/>
        </p:nvSpPr>
        <p:spPr>
          <a:xfrm>
            <a:off x="5399280" y="3701880"/>
            <a:ext cx="1656000" cy="390960"/>
          </a:xfrm>
          <a:prstGeom prst="flowChartManualOperation">
            <a:avLst/>
          </a:prstGeom>
          <a:solidFill>
            <a:srgbClr val="f6b26b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400" spc="-1" strike="noStrike">
                <a:solidFill>
                  <a:srgbClr val="000000"/>
                </a:solidFill>
                <a:latin typeface="Verdana"/>
                <a:ea typeface="Verdana"/>
              </a:rPr>
              <a:t>/dev/null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Google Shape;296;p42"/>
          <p:cNvSpPr/>
          <p:nvPr/>
        </p:nvSpPr>
        <p:spPr>
          <a:xfrm>
            <a:off x="5960880" y="3286440"/>
            <a:ext cx="2206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4880" bIns="74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  <p:cxnSp>
        <p:nvCxnSpPr>
          <p:cNvPr id="254" name="Google Shape;297;p42"/>
          <p:cNvCxnSpPr>
            <a:stCxn id="246" idx="2"/>
            <a:endCxn id="252" idx="0"/>
          </p:cNvCxnSpPr>
          <p:nvPr/>
        </p:nvCxnSpPr>
        <p:spPr>
          <a:xfrm>
            <a:off x="6227280" y="3439440"/>
            <a:ext cx="360" cy="262800"/>
          </a:xfrm>
          <a:prstGeom prst="straightConnector1">
            <a:avLst/>
          </a:prstGeom>
          <a:ln w="19050">
            <a:solidFill>
              <a:srgbClr val="ff4000"/>
            </a:solidFill>
            <a:round/>
            <a:tailEnd len="med" type="triangle" w="med"/>
          </a:ln>
        </p:spPr>
      </p:cxnSp>
      <p:sp>
        <p:nvSpPr>
          <p:cNvPr id="255" name="Google Shape;298;p42"/>
          <p:cNvSpPr/>
          <p:nvPr/>
        </p:nvSpPr>
        <p:spPr>
          <a:xfrm>
            <a:off x="4309200" y="2212560"/>
            <a:ext cx="2206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4880" bIns="74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  <p:cxnSp>
        <p:nvCxnSpPr>
          <p:cNvPr id="256" name="Google Shape;299;p42"/>
          <p:cNvCxnSpPr>
            <a:stCxn id="257" idx="0"/>
            <a:endCxn id="236" idx="1"/>
          </p:cNvCxnSpPr>
          <p:nvPr/>
        </p:nvCxnSpPr>
        <p:spPr>
          <a:xfrm flipH="1" flipV="1" rot="5400000">
            <a:off x="5343480" y="137520"/>
            <a:ext cx="794520" cy="3356280"/>
          </a:xfrm>
          <a:prstGeom prst="bentConnector2">
            <a:avLst/>
          </a:prstGeom>
          <a:ln w="9525">
            <a:solidFill>
              <a:srgbClr val="0094ba"/>
            </a:solidFill>
            <a:round/>
            <a:tailEnd len="med" type="triangle" w="med"/>
          </a:ln>
        </p:spPr>
      </p:cxnSp>
      <p:sp>
        <p:nvSpPr>
          <p:cNvPr id="257" name="Google Shape;300;p42"/>
          <p:cNvSpPr/>
          <p:nvPr/>
        </p:nvSpPr>
        <p:spPr>
          <a:xfrm>
            <a:off x="3961080" y="2212560"/>
            <a:ext cx="2034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4880" bIns="74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412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nl-BE" sz="3200" spc="-1" strike="noStrike">
                <a:solidFill>
                  <a:schemeClr val="dk1"/>
                </a:solidFill>
                <a:latin typeface="Verdana"/>
                <a:ea typeface="Verdana"/>
              </a:rPr>
              <a:t>Simple scripts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Simple scripts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Verdana"/>
              <a:ea typeface="Verdana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35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ABB369-ACD0-44DB-8824-20D51866C320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2" name="Google Shape;323;p45" descr=""/>
          <p:cNvPicPr/>
          <p:nvPr/>
        </p:nvPicPr>
        <p:blipFill>
          <a:blip r:embed="rId1"/>
          <a:stretch/>
        </p:blipFill>
        <p:spPr>
          <a:xfrm>
            <a:off x="2550240" y="864000"/>
            <a:ext cx="4721400" cy="472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682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A script is a text file.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A script can be written in different languages </a:t>
            </a:r>
            <a:br>
              <a:rPr sz="2000"/>
            </a:b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(Bash, R, Python, PHP, Perl, etc.)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546120"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→ </a:t>
            </a: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we write in bash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simplest script = list of commands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useful for bundling commands and executing them regularly (automation)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Simple scripts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6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002EF5-8AF7-465C-9EA4-6EA0DFF4A6E9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682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Suppose: you want to take regular backups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Commands: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1" lang="nl-BE" sz="2200" spc="-1" strike="noStrike">
                <a:solidFill>
                  <a:srgbClr val="ff0000"/>
                </a:solidFill>
                <a:latin typeface="Courier New"/>
                <a:ea typeface="Courier New"/>
              </a:rPr>
              <a:t>tar zcf /tmp/backup.tgz /root 2&gt;/dev/null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200" spc="-1" strike="noStrike">
                <a:solidFill>
                  <a:srgbClr val="ff0000"/>
                </a:solidFill>
                <a:latin typeface="Courier New"/>
                <a:ea typeface="Courier New"/>
              </a:rPr>
              <a:t>sync</a:t>
            </a:r>
            <a:br>
              <a:rPr sz="2200"/>
            </a:b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problems: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68280">
              <a:lnSpc>
                <a:spcPct val="114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lots of typing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68280">
              <a:lnSpc>
                <a:spcPct val="114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risk of typing errors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Example: backup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7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EDB176-8B32-4CF8-9AC3-6B89E4055C80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682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Create a text file "~/bin/backup1" containing: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1" lang="nl-BE" sz="2200" spc="-1" strike="noStrike">
                <a:solidFill>
                  <a:srgbClr val="ff0000"/>
                </a:solidFill>
                <a:latin typeface="Courier New"/>
                <a:ea typeface="Courier New"/>
              </a:rPr>
              <a:t>echo "Backing up..."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200" spc="-1" strike="noStrike">
                <a:solidFill>
                  <a:srgbClr val="ff0000"/>
                </a:solidFill>
                <a:latin typeface="Courier New"/>
                <a:ea typeface="Courier New"/>
              </a:rPr>
              <a:t>tar zcf /tmp/backup.tgz /root 2&gt;/dev/null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200" spc="-1" strike="noStrike">
                <a:solidFill>
                  <a:srgbClr val="ff0000"/>
                </a:solidFill>
                <a:latin typeface="Courier New"/>
                <a:ea typeface="Courier New"/>
              </a:rPr>
              <a:t>sync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200" spc="-1" strike="noStrike">
                <a:solidFill>
                  <a:srgbClr val="ff0000"/>
                </a:solidFill>
                <a:latin typeface="Courier New"/>
                <a:ea typeface="Courier New"/>
              </a:rPr>
              <a:t>echo "Done.</a:t>
            </a:r>
            <a:r>
              <a:rPr b="0" lang="nl-BE" sz="2200" spc="-1" strike="noStrike">
                <a:solidFill>
                  <a:srgbClr val="ff0000"/>
                </a:solidFill>
                <a:latin typeface="Courier New"/>
                <a:ea typeface="Courier New"/>
              </a:rPr>
              <a:t>"</a:t>
            </a:r>
            <a:br>
              <a:rPr sz="2200"/>
            </a:b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Make it executable with: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546120"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 </a:t>
            </a:r>
            <a:r>
              <a:rPr b="0" lang="nl-BE" sz="2200" spc="-1" strike="noStrike">
                <a:solidFill>
                  <a:schemeClr val="dk1"/>
                </a:solidFill>
                <a:latin typeface="Courier New"/>
                <a:ea typeface="Verdana"/>
              </a:rPr>
              <a:t>chmod +x ~/bin/backup1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Solution: create a script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8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9154A1-7287-4B2A-9678-121E3DA0B621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682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When executing, bash will interpret the lines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What if you call the script from another shell?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What if the script is written in a different shell/language?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Shebang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9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0595ED-83B4-4E88-AF44-24E6C9F18A66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Num" idx="40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1D8496-6D7E-4D46-93D8-17198D294A88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6" name="Picture 4" descr=""/>
          <p:cNvPicPr/>
          <p:nvPr/>
        </p:nvPicPr>
        <p:blipFill>
          <a:blip r:embed="rId1"/>
          <a:stretch/>
        </p:blipFill>
        <p:spPr>
          <a:xfrm>
            <a:off x="1146960" y="0"/>
            <a:ext cx="685008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/>
          </p:nvPr>
        </p:nvSpPr>
        <p:spPr>
          <a:xfrm>
            <a:off x="578880" y="837720"/>
            <a:ext cx="8025120" cy="430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682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Solution: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1" lang="nl-BE" sz="2200" spc="-1" strike="noStrike">
                <a:solidFill>
                  <a:srgbClr val="ff0000"/>
                </a:solidFill>
                <a:latin typeface="Courier New"/>
                <a:ea typeface="Courier New"/>
              </a:rPr>
              <a:t>#!/bin/bash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"Backing up..."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Courier New"/>
                <a:ea typeface="Courier New"/>
              </a:rPr>
              <a:t>tar zcf /tmp/backup.tgz /root 2&gt;/dev/null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Courier New"/>
                <a:ea typeface="Courier New"/>
              </a:rPr>
              <a:t>sync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"Done."</a:t>
            </a:r>
            <a:br>
              <a:rPr sz="2200"/>
            </a:b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Other options: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68280">
              <a:lnSpc>
                <a:spcPct val="114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/bin/sh, /usr/bin/perl, /usr/bin/python3, …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68280">
              <a:lnSpc>
                <a:spcPct val="114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example: </a:t>
            </a:r>
            <a:r>
              <a:rPr b="1" lang="nl-BE" sz="2200" spc="-1" strike="noStrike">
                <a:solidFill>
                  <a:schemeClr val="dk1"/>
                </a:solidFill>
                <a:latin typeface="Courier New"/>
                <a:ea typeface="Courier New"/>
              </a:rPr>
              <a:t>#!/usr/local/bin/python3</a:t>
            </a:r>
            <a:br>
              <a:rPr sz="2200"/>
            </a:b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example: </a:t>
            </a:r>
            <a:r>
              <a:rPr b="1" lang="nl-BE" sz="2200" spc="-1" strike="noStrike">
                <a:solidFill>
                  <a:schemeClr val="dk1"/>
                </a:solidFill>
                <a:latin typeface="Courier New"/>
                <a:ea typeface="Verdana"/>
              </a:rPr>
              <a:t>#!/</a:t>
            </a:r>
            <a:r>
              <a:rPr b="1" lang="nl-BE" sz="2200" spc="-1" strike="noStrike">
                <a:solidFill>
                  <a:schemeClr val="dk1"/>
                </a:solidFill>
                <a:latin typeface="Courier New"/>
                <a:ea typeface="Courier New"/>
              </a:rPr>
              <a:t>usr/bin/env bash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Shebang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41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1AE522-17CF-4F06-A551-9D24C2BC6EAC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/>
          </p:nvPr>
        </p:nvSpPr>
        <p:spPr>
          <a:xfrm>
            <a:off x="729720" y="833400"/>
            <a:ext cx="8300880" cy="432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4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Arial"/>
                <a:ea typeface="Arial"/>
              </a:rPr>
              <a:t>Create</a:t>
            </a: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 a </a:t>
            </a:r>
            <a:r>
              <a:rPr b="0" lang="nl-BE" sz="2000" spc="-1" strike="noStrike">
                <a:solidFill>
                  <a:schemeClr val="dk1"/>
                </a:solidFill>
                <a:latin typeface="Arial"/>
                <a:ea typeface="Arial"/>
              </a:rPr>
              <a:t>new text file called hello.sh with the following content: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1" lang="nl-BE" sz="2000" spc="-1" strike="noStrike">
                <a:solidFill>
                  <a:srgbClr val="ff4000"/>
                </a:solidFill>
                <a:latin typeface="Courier New"/>
                <a:ea typeface="Courier New"/>
              </a:rPr>
              <a:t>#!/bin/bash</a:t>
            </a:r>
            <a:br>
              <a:rPr sz="2000"/>
            </a:br>
            <a:r>
              <a:rPr b="1" lang="nl-BE" sz="2000" spc="-1" strike="noStrike">
                <a:solidFill>
                  <a:srgbClr val="ff4000"/>
                </a:solidFill>
                <a:latin typeface="Courier New"/>
                <a:ea typeface="Courier New"/>
              </a:rPr>
              <a:t>echo "Hello world"</a:t>
            </a:r>
            <a:br>
              <a:rPr sz="2000"/>
            </a:b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Arial"/>
                <a:ea typeface="Arial"/>
              </a:rPr>
              <a:t>Make the file executable: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1" lang="nl-BE" sz="2000" spc="-1" strike="noStrike">
                <a:solidFill>
                  <a:srgbClr val="ff4000"/>
                </a:solidFill>
                <a:latin typeface="Courier New"/>
                <a:ea typeface="Courier New"/>
              </a:rPr>
              <a:t>chmod +x hello.sh</a:t>
            </a:r>
            <a:br>
              <a:rPr sz="2000"/>
            </a:b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Arial"/>
                <a:ea typeface="Courier New"/>
              </a:rPr>
              <a:t>Run the file: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1" lang="nl-BE" sz="2000" spc="-1" strike="noStrike">
                <a:solidFill>
                  <a:srgbClr val="ff4000"/>
                </a:solidFill>
                <a:latin typeface="Arial"/>
                <a:ea typeface="Arial"/>
              </a:rPr>
              <a:t>./hello.sh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7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nl-BE" sz="1600" spc="-1" strike="noStrike">
                <a:solidFill>
                  <a:schemeClr val="dk1"/>
                </a:solidFill>
                <a:latin typeface="Arial"/>
                <a:ea typeface="Arial"/>
              </a:rPr>
              <a:t>Extend the script: Print today's date, your username, hostname the uptime of the system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Exercise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42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508E7B-1190-4870-98FD-1EC5486974A0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83" name="Picture 1" descr=""/>
          <p:cNvPicPr/>
          <p:nvPr/>
        </p:nvPicPr>
        <p:blipFill>
          <a:blip r:embed="rId1"/>
          <a:stretch/>
        </p:blipFill>
        <p:spPr>
          <a:xfrm>
            <a:off x="4428000" y="3472200"/>
            <a:ext cx="4714920" cy="106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/>
          </p:nvPr>
        </p:nvSpPr>
        <p:spPr>
          <a:xfrm>
            <a:off x="731880" y="395280"/>
            <a:ext cx="8580600" cy="39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0152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Verdana"/>
              </a:rPr>
              <a:t>#!/bin/bash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Verdana"/>
              </a:rPr>
              <a:t>echo "Hello World"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Verdana"/>
              </a:rPr>
              <a:t>echo -n "Today is: 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Verdana"/>
              </a:rPr>
              <a:t>#This is a comment: Run the date command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Verdana"/>
              </a:rPr>
              <a:t>date +%A </a:t>
            </a:r>
            <a:br>
              <a:rPr sz="2000"/>
            </a:b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Verdana"/>
              </a:rPr>
              <a:t>echo -e "Username is: $USER\t Hostname is: $HOSTNAME"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Verdana"/>
              </a:rPr>
              <a:t>echo "System uptime:"</a:t>
            </a:r>
            <a:br>
              <a:rPr sz="2000"/>
            </a:b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Verdana"/>
              </a:rPr>
              <a:t># Run the uptime command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ourier New"/>
                <a:ea typeface="Verdana"/>
              </a:rPr>
              <a:t>uptime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ldNum" idx="43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7FD3A0-FFFD-4D7E-99C8-60ED7DDA3253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412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nl-BE" sz="3200" spc="-1" strike="noStrike">
                <a:solidFill>
                  <a:schemeClr val="dk1"/>
                </a:solidFill>
                <a:latin typeface="Verdana"/>
                <a:ea typeface="Verdana"/>
              </a:rPr>
              <a:t>Variables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682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What if we want to back up to a different directory?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What if we want a different file name for the tar file?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What if we want to back up other files?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682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200" spc="-1" strike="noStrike">
                <a:solidFill>
                  <a:schemeClr val="dk1"/>
                </a:solidFill>
                <a:latin typeface="Verdana"/>
                <a:ea typeface="Verdana"/>
              </a:rPr>
              <a:t>...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Variables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44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CC353F-0226-4333-BB75-FC3E54C407B2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/>
          </p:nvPr>
        </p:nvSpPr>
        <p:spPr>
          <a:xfrm>
            <a:off x="89280" y="1441440"/>
            <a:ext cx="90547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#!/bin/bash</a:t>
            </a:r>
            <a:br>
              <a:rPr sz="200"/>
            </a:br>
            <a:br>
              <a:rPr sz="200"/>
            </a:br>
            <a:r>
              <a:rPr b="1" lang="nl-BE" sz="1900" spc="-1" strike="noStrike">
                <a:solidFill>
                  <a:srgbClr val="ff0000"/>
                </a:solidFill>
                <a:latin typeface="Courier New"/>
                <a:ea typeface="Courier New"/>
              </a:rPr>
              <a:t>backup_dir=/tmp</a:t>
            </a:r>
            <a:br>
              <a:rPr sz="200"/>
            </a:br>
            <a:r>
              <a:rPr b="1" lang="nl-BE" sz="1900" spc="-1" strike="noStrike">
                <a:solidFill>
                  <a:srgbClr val="ff0000"/>
                </a:solidFill>
                <a:latin typeface="Courier New"/>
                <a:ea typeface="Courier New"/>
              </a:rPr>
              <a:t>backup_file=backup.tgz</a:t>
            </a:r>
            <a:br>
              <a:rPr sz="200"/>
            </a:br>
            <a:r>
              <a:rPr b="1" lang="nl-BE" sz="1900" spc="-1" strike="noStrike">
                <a:solidFill>
                  <a:srgbClr val="ff0000"/>
                </a:solidFill>
                <a:latin typeface="Courier New"/>
                <a:ea typeface="Courier New"/>
              </a:rPr>
              <a:t>files=/root</a:t>
            </a:r>
            <a:br>
              <a:rPr sz="1900"/>
            </a:br>
            <a:br>
              <a:rPr sz="1900"/>
            </a:br>
            <a:br>
              <a:rPr sz="200"/>
            </a:br>
            <a:br>
              <a:rPr sz="200"/>
            </a:b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"Backing up to </a:t>
            </a:r>
            <a:r>
              <a:rPr b="1" lang="nl-BE" sz="1900" spc="-1" strike="noStrike">
                <a:solidFill>
                  <a:srgbClr val="ff0000"/>
                </a:solidFill>
                <a:latin typeface="Courier New"/>
                <a:ea typeface="Courier New"/>
              </a:rPr>
              <a:t>$backup_file</a:t>
            </a: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..."</a:t>
            </a:r>
            <a:br>
              <a:rPr sz="200"/>
            </a:b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tar -zcf </a:t>
            </a:r>
            <a:r>
              <a:rPr b="1" lang="nl-BE" sz="1900" spc="-1" strike="noStrike">
                <a:solidFill>
                  <a:srgbClr val="ff0000"/>
                </a:solidFill>
                <a:latin typeface="Courier New"/>
                <a:ea typeface="Courier New"/>
              </a:rPr>
              <a:t>"${backup_dir}/${backup_file}" ${files} 2&gt;/dev/null</a:t>
            </a:r>
            <a:br>
              <a:rPr sz="200"/>
            </a:b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sync</a:t>
            </a:r>
            <a:br>
              <a:rPr sz="200"/>
            </a:b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"Done."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Variables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5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8EBF82-2A43-480E-9289-D48102EA2A0A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Google Shape;394;p54"/>
          <p:cNvSpPr/>
          <p:nvPr/>
        </p:nvSpPr>
        <p:spPr>
          <a:xfrm>
            <a:off x="4171680" y="835560"/>
            <a:ext cx="4787640" cy="1566360"/>
          </a:xfrm>
          <a:prstGeom prst="rect">
            <a:avLst/>
          </a:prstGeom>
          <a:noFill/>
          <a:ln w="126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marL="285840" indent="-28584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b="0" lang="nl-BE" sz="1400" spc="-1" strike="noStrike">
                <a:solidFill>
                  <a:srgbClr val="000000"/>
                </a:solidFill>
                <a:latin typeface="Arial"/>
                <a:ea typeface="Arial"/>
              </a:rPr>
              <a:t>Start with letter (or _)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b="0" lang="nl-BE" sz="1400" spc="-1" strike="noStrike">
                <a:solidFill>
                  <a:srgbClr val="000000"/>
                </a:solidFill>
                <a:latin typeface="Arial"/>
                <a:ea typeface="Arial"/>
              </a:rPr>
              <a:t>Avoid hyphens (</a:t>
            </a:r>
            <a:r>
              <a:rPr b="0" lang="nl-BE" sz="1400" spc="-1" strike="noStrike">
                <a:solidFill>
                  <a:srgbClr val="a31515"/>
                </a:solidFill>
                <a:latin typeface="Consolas"/>
                <a:ea typeface="Arial"/>
              </a:rPr>
              <a:t>-</a:t>
            </a:r>
            <a:r>
              <a:rPr b="0" lang="nl-BE" sz="14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b="0" lang="nl-BE" sz="1400" spc="-1" strike="noStrike">
                <a:solidFill>
                  <a:srgbClr val="000000"/>
                </a:solidFill>
                <a:latin typeface="Arial"/>
                <a:ea typeface="Arial"/>
              </a:rPr>
              <a:t>Lowercase with Underscores for Local Variables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b="0" lang="nl-BE" sz="1400" spc="-1" strike="noStrike">
                <a:solidFill>
                  <a:srgbClr val="000000"/>
                </a:solidFill>
                <a:latin typeface="Arial"/>
                <a:ea typeface="Arial"/>
              </a:rPr>
              <a:t>Uppercase  for Constants and Environment Variables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b="0" lang="nl-BE" sz="1400" spc="-1" strike="noStrike">
                <a:solidFill>
                  <a:srgbClr val="000000"/>
                </a:solidFill>
                <a:latin typeface="Arial"/>
                <a:ea typeface="Arial"/>
              </a:rPr>
              <a:t>No CamelCase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b="0" lang="nl-BE" sz="1400" spc="-1" strike="noStrike">
                <a:solidFill>
                  <a:srgbClr val="000000"/>
                </a:solidFill>
                <a:latin typeface="Arial"/>
                <a:ea typeface="Arial"/>
              </a:rPr>
              <a:t>Descriptive: not dir but backup_dir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/>
          </p:nvPr>
        </p:nvSpPr>
        <p:spPr>
          <a:xfrm>
            <a:off x="914400" y="1143000"/>
            <a:ext cx="8262360" cy="34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01520" indent="0">
              <a:lnSpc>
                <a:spcPct val="114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ourier New"/>
                <a:ea typeface="Verdana"/>
              </a:rPr>
              <a:t>${var}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4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  <a:ea typeface="Verdana"/>
              </a:rPr>
              <a:t>$ var=Good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4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ourier New"/>
                <a:ea typeface="Verdana"/>
              </a:rPr>
              <a:t>$ </a:t>
            </a:r>
            <a:r>
              <a:rPr b="0" lang="en-US" sz="2800" spc="-1" strike="noStrike">
                <a:solidFill>
                  <a:srgbClr val="007acc"/>
                </a:solidFill>
                <a:latin typeface="Courier New"/>
                <a:ea typeface="Verdana"/>
              </a:rPr>
              <a:t>echo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  <a:ea typeface="Verdana"/>
              </a:rPr>
              <a:t> </a:t>
            </a:r>
            <a:r>
              <a:rPr b="0" lang="en-US" sz="2800" spc="-1" strike="noStrike">
                <a:solidFill>
                  <a:srgbClr val="008000"/>
                </a:solidFill>
                <a:latin typeface="Courier New"/>
                <a:ea typeface="Verdana"/>
              </a:rPr>
              <a:t>$varbye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4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7acc"/>
                </a:solidFill>
                <a:latin typeface="Courier New"/>
                <a:ea typeface="Verdana"/>
              </a:rPr>
              <a:t>bye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4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7acc"/>
                </a:solidFill>
                <a:latin typeface="Courier New"/>
                <a:ea typeface="Verdana"/>
              </a:rPr>
              <a:t>$ echo</a:t>
            </a:r>
            <a:r>
              <a:rPr b="0" lang="en-US" sz="2800" spc="-1" strike="noStrike">
                <a:solidFill>
                  <a:schemeClr val="dk1"/>
                </a:solidFill>
                <a:latin typeface="Courier New"/>
                <a:ea typeface="Verdana"/>
              </a:rPr>
              <a:t> </a:t>
            </a:r>
            <a:r>
              <a:rPr b="0" lang="en-US" sz="2800" spc="-1" strike="noStrike">
                <a:solidFill>
                  <a:srgbClr val="008000"/>
                </a:solidFill>
                <a:latin typeface="Courier New"/>
                <a:ea typeface="Verdana"/>
              </a:rPr>
              <a:t>${var}</a:t>
            </a:r>
            <a:r>
              <a:rPr b="0" lang="en-US" sz="2800" spc="-1" strike="noStrike">
                <a:solidFill>
                  <a:srgbClr val="007acc"/>
                </a:solidFill>
                <a:latin typeface="Courier New"/>
                <a:ea typeface="Verdana"/>
              </a:rPr>
              <a:t>bye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12708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7acc"/>
                </a:solidFill>
                <a:latin typeface="Courier New"/>
                <a:ea typeface="Verdana"/>
              </a:rPr>
              <a:t>Goodbye</a:t>
            </a:r>
            <a:br>
              <a:rPr sz="2800"/>
            </a:b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Variables – use {}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46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EF7BE6-EC06-4986-9B4D-D76011A81E7C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4572000" y="914400"/>
            <a:ext cx="4038120" cy="65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{} explicitly marks variable boundaries so text can follow immediately.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/>
          </p:nvPr>
        </p:nvSpPr>
        <p:spPr>
          <a:xfrm>
            <a:off x="774000" y="1116000"/>
            <a:ext cx="8262360" cy="34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  <a:ea typeface="Verdana"/>
              </a:rPr>
              <a:t>$ </a:t>
            </a:r>
            <a:r>
              <a:rPr b="0" lang="en-US" sz="1800" spc="-1" strike="noStrike">
                <a:solidFill>
                  <a:srgbClr val="007acc"/>
                </a:solidFill>
                <a:latin typeface="Consolas"/>
                <a:ea typeface="Verdana"/>
              </a:rPr>
              <a:t>mkdir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  <a:ea typeface="Verdana"/>
              </a:rPr>
              <a:t> </a:t>
            </a: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"My Documents"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$ var="My Documents"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$ </a:t>
            </a:r>
            <a:r>
              <a:rPr b="0" lang="en-US" sz="1800" spc="-1" strike="noStrike">
                <a:solidFill>
                  <a:srgbClr val="007acc"/>
                </a:solidFill>
                <a:latin typeface="Consolas"/>
                <a:ea typeface="Verdana"/>
              </a:rPr>
              <a:t>ls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  <a:ea typeface="Verdana"/>
              </a:rPr>
              <a:t> </a:t>
            </a:r>
            <a:r>
              <a:rPr b="0" lang="en-US" sz="1800" spc="-1" strike="noStrike">
                <a:solidFill>
                  <a:srgbClr val="008000"/>
                </a:solidFill>
                <a:latin typeface="Consolas"/>
                <a:ea typeface="Verdana"/>
              </a:rPr>
              <a:t>${var}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007acc"/>
                </a:solidFill>
                <a:latin typeface="Consolas"/>
                <a:ea typeface="Verdana"/>
              </a:rPr>
              <a:t>ls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  <a:ea typeface="Verdana"/>
              </a:rPr>
              <a:t>: cannot access </a:t>
            </a: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'My'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  <a:ea typeface="Verdana"/>
              </a:rPr>
              <a:t>: No such file or directory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007acc"/>
                </a:solidFill>
                <a:latin typeface="Consolas"/>
                <a:ea typeface="Verdana"/>
              </a:rPr>
              <a:t>ls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  <a:ea typeface="Verdana"/>
              </a:rPr>
              <a:t>: cannot access </a:t>
            </a: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'Documents'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  <a:ea typeface="Verdana"/>
              </a:rPr>
              <a:t>: No such file or directory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  <a:ea typeface="Verdana"/>
              </a:rPr>
              <a:t>$ </a:t>
            </a:r>
            <a:r>
              <a:rPr b="0" lang="en-US" sz="1800" spc="-1" strike="noStrike">
                <a:solidFill>
                  <a:srgbClr val="007acc"/>
                </a:solidFill>
                <a:latin typeface="Consolas"/>
                <a:ea typeface="Verdana"/>
              </a:rPr>
              <a:t>ls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  <a:ea typeface="Verdana"/>
              </a:rPr>
              <a:t> </a:t>
            </a: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"</a:t>
            </a:r>
            <a:r>
              <a:rPr b="0" lang="en-US" sz="1800" spc="-1" strike="noStrike">
                <a:solidFill>
                  <a:srgbClr val="008000"/>
                </a:solidFill>
                <a:latin typeface="Consolas"/>
                <a:ea typeface="Verdana"/>
              </a:rPr>
              <a:t>${var}</a:t>
            </a: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$ </a:t>
            </a:r>
            <a:r>
              <a:rPr b="0" lang="en-US" sz="1800" spc="-1" strike="noStrike">
                <a:solidFill>
                  <a:srgbClr val="007acc"/>
                </a:solidFill>
                <a:latin typeface="Consolas"/>
                <a:ea typeface="Verdana"/>
              </a:rPr>
              <a:t>touch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Verdana"/>
              </a:rPr>
              <a:t> </a:t>
            </a: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"</a:t>
            </a:r>
            <a:r>
              <a:rPr b="0" lang="en-US" sz="1800" spc="-1" strike="noStrike">
                <a:solidFill>
                  <a:srgbClr val="008000"/>
                </a:solidFill>
                <a:latin typeface="Consolas"/>
                <a:ea typeface="Verdana"/>
              </a:rPr>
              <a:t>${var}</a:t>
            </a: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/document"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onsolas"/>
                <a:ea typeface="Verdana"/>
              </a:rPr>
              <a:t>$ </a:t>
            </a:r>
            <a:r>
              <a:rPr b="0" lang="en-US" sz="1800" spc="-1" strike="noStrike">
                <a:solidFill>
                  <a:srgbClr val="007acc"/>
                </a:solidFill>
                <a:latin typeface="Consolas"/>
                <a:ea typeface="Verdana"/>
              </a:rPr>
              <a:t>ls</a:t>
            </a:r>
            <a:r>
              <a:rPr b="0" lang="en-US" sz="1800" spc="-1" strike="noStrike">
                <a:solidFill>
                  <a:schemeClr val="dk1"/>
                </a:solidFill>
                <a:latin typeface="Consolas"/>
                <a:ea typeface="Verdana"/>
              </a:rPr>
              <a:t> </a:t>
            </a: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"</a:t>
            </a:r>
            <a:r>
              <a:rPr b="0" lang="en-US" sz="1800" spc="-1" strike="noStrike">
                <a:solidFill>
                  <a:srgbClr val="008000"/>
                </a:solidFill>
                <a:latin typeface="Consolas"/>
                <a:ea typeface="Verdana"/>
              </a:rPr>
              <a:t>${var}</a:t>
            </a: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document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a31515"/>
                </a:solidFill>
                <a:latin typeface="Consolas"/>
                <a:ea typeface="Verdana"/>
              </a:rPr>
              <a:t>$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Variables – use "${var}"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47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013642-3CAE-4587-A39C-CAD607722959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/>
          </p:nvPr>
        </p:nvSpPr>
        <p:spPr>
          <a:xfrm>
            <a:off x="774000" y="1116000"/>
            <a:ext cx="8262360" cy="34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spcBef>
                <a:spcPts val="1417"/>
              </a:spcBef>
              <a:buNone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$ </a:t>
            </a:r>
            <a:r>
              <a:rPr b="0" lang="en-US" sz="1600" spc="-1" strike="noStrike">
                <a:solidFill>
                  <a:srgbClr val="000000"/>
                </a:solidFill>
                <a:latin typeface="Consolas"/>
                <a:ea typeface="Verdana"/>
              </a:rPr>
              <a:t>var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=</a:t>
            </a:r>
            <a:r>
              <a:rPr b="0" lang="en-US" sz="1600" spc="-1" strike="noStrike">
                <a:solidFill>
                  <a:srgbClr val="a31515"/>
                </a:solidFill>
                <a:latin typeface="Consolas"/>
                <a:ea typeface="Verdana"/>
              </a:rPr>
              <a:t>"*.txt"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$ </a:t>
            </a:r>
            <a:r>
              <a:rPr b="0" lang="en-US" sz="1600" spc="-1" strike="noStrike">
                <a:solidFill>
                  <a:srgbClr val="007acc"/>
                </a:solidFill>
                <a:latin typeface="Consolas"/>
                <a:ea typeface="Verdana"/>
              </a:rPr>
              <a:t>echo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 </a:t>
            </a:r>
            <a:r>
              <a:rPr b="0" lang="en-US" sz="1600" spc="-1" strike="noStrike">
                <a:solidFill>
                  <a:srgbClr val="008000"/>
                </a:solidFill>
                <a:latin typeface="Consolas"/>
                <a:ea typeface="Verdana"/>
              </a:rPr>
              <a:t>${var}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*.txt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$ </a:t>
            </a:r>
            <a:r>
              <a:rPr b="0" lang="en-US" sz="1600" spc="-1" strike="noStrike">
                <a:solidFill>
                  <a:srgbClr val="007acc"/>
                </a:solidFill>
                <a:latin typeface="Consolas"/>
                <a:ea typeface="Verdana"/>
              </a:rPr>
              <a:t>touch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 doc.txt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$ </a:t>
            </a:r>
            <a:r>
              <a:rPr b="0" lang="en-US" sz="1600" spc="-1" strike="noStrike">
                <a:solidFill>
                  <a:srgbClr val="007acc"/>
                </a:solidFill>
                <a:latin typeface="Consolas"/>
                <a:ea typeface="Verdana"/>
              </a:rPr>
              <a:t>echo</a:t>
            </a:r>
            <a:r>
              <a:rPr b="0" lang="en-US" sz="1600" spc="-1" strike="noStrike">
                <a:solidFill>
                  <a:srgbClr val="000000"/>
                </a:solidFill>
                <a:latin typeface="Consolas"/>
                <a:ea typeface="Verdana"/>
              </a:rPr>
              <a:t> </a:t>
            </a:r>
            <a:r>
              <a:rPr b="0" lang="en-US" sz="1600" spc="-1" strike="noStrike">
                <a:solidFill>
                  <a:srgbClr val="008000"/>
                </a:solidFill>
                <a:latin typeface="Consolas"/>
                <a:ea typeface="Verdana"/>
              </a:rPr>
              <a:t>${var}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onsolas"/>
                <a:ea typeface="Verdana"/>
              </a:rPr>
              <a:t>doc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.txt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$ </a:t>
            </a:r>
            <a:r>
              <a:rPr b="0" lang="en-US" sz="1600" spc="-1" strike="noStrike">
                <a:solidFill>
                  <a:srgbClr val="007acc"/>
                </a:solidFill>
                <a:latin typeface="Consolas"/>
                <a:ea typeface="Verdana"/>
              </a:rPr>
              <a:t>echo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 </a:t>
            </a:r>
            <a:r>
              <a:rPr b="0" lang="en-US" sz="1600" spc="-1" strike="noStrike">
                <a:solidFill>
                  <a:srgbClr val="a31515"/>
                </a:solidFill>
                <a:latin typeface="Consolas"/>
                <a:ea typeface="Verdana"/>
              </a:rPr>
              <a:t>"</a:t>
            </a:r>
            <a:r>
              <a:rPr b="0" lang="en-US" sz="1600" spc="-1" strike="noStrike">
                <a:solidFill>
                  <a:srgbClr val="008000"/>
                </a:solidFill>
                <a:latin typeface="Consolas"/>
                <a:ea typeface="Verdana"/>
              </a:rPr>
              <a:t>${var}</a:t>
            </a:r>
            <a:r>
              <a:rPr b="0" lang="en-US" sz="1600" spc="-1" strike="noStrike">
                <a:solidFill>
                  <a:srgbClr val="a31515"/>
                </a:solidFill>
                <a:latin typeface="Consolas"/>
                <a:ea typeface="Verdana"/>
              </a:rPr>
              <a:t>"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*.txt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$ </a:t>
            </a:r>
            <a:r>
              <a:rPr b="0" lang="en-US" sz="1600" spc="-1" strike="noStrike">
                <a:solidFill>
                  <a:srgbClr val="007acc"/>
                </a:solidFill>
                <a:latin typeface="Consolas"/>
                <a:ea typeface="Verdana"/>
              </a:rPr>
              <a:t>ls</a:t>
            </a:r>
            <a:r>
              <a:rPr b="0" lang="en-US" sz="1600" spc="-1" strike="noStrike">
                <a:solidFill>
                  <a:srgbClr val="000000"/>
                </a:solidFill>
                <a:latin typeface="Consolas"/>
                <a:ea typeface="Verdana"/>
              </a:rPr>
              <a:t> </a:t>
            </a:r>
            <a:r>
              <a:rPr b="0" lang="en-US" sz="1600" spc="-1" strike="noStrike">
                <a:solidFill>
                  <a:srgbClr val="a31515"/>
                </a:solidFill>
                <a:latin typeface="Consolas"/>
                <a:ea typeface="Verdana"/>
              </a:rPr>
              <a:t>"</a:t>
            </a:r>
            <a:r>
              <a:rPr b="0" lang="en-US" sz="1600" spc="-1" strike="noStrike">
                <a:solidFill>
                  <a:srgbClr val="008000"/>
                </a:solidFill>
                <a:latin typeface="Consolas"/>
                <a:ea typeface="Verdana"/>
              </a:rPr>
              <a:t>${var}</a:t>
            </a:r>
            <a:r>
              <a:rPr b="0" lang="en-US" sz="1600" spc="-1" strike="noStrike">
                <a:solidFill>
                  <a:srgbClr val="a31515"/>
                </a:solidFill>
                <a:latin typeface="Consolas"/>
                <a:ea typeface="Verdana"/>
              </a:rPr>
              <a:t>"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7acc"/>
                </a:solidFill>
                <a:latin typeface="Consolas"/>
                <a:ea typeface="Verdana"/>
              </a:rPr>
              <a:t>ls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: cannot access </a:t>
            </a:r>
            <a:r>
              <a:rPr b="0" lang="en-US" sz="1600" spc="-1" strike="noStrike">
                <a:solidFill>
                  <a:srgbClr val="a31515"/>
                </a:solidFill>
                <a:latin typeface="Consolas"/>
                <a:ea typeface="Verdana"/>
              </a:rPr>
              <a:t>'*.txt'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  <a:ea typeface="Verdana"/>
              </a:rPr>
              <a:t>: No such file or directory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Variables – use "${var}"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48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F9D7A6-A238-4B53-BA3B-F3D46DAF638C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/>
          </p:nvPr>
        </p:nvSpPr>
        <p:spPr>
          <a:xfrm>
            <a:off x="1174680" y="942480"/>
            <a:ext cx="7429680" cy="365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spcBef>
                <a:spcPts val="1417"/>
              </a:spcBef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Verdana"/>
                <a:ea typeface="Verdana"/>
              </a:rPr>
              <a:t>Create a script: var.sh</a:t>
            </a:r>
            <a:br>
              <a:rPr sz="1800"/>
            </a:b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i="1" lang="en-US" sz="1200" spc="-1" strike="noStrike">
                <a:solidFill>
                  <a:srgbClr val="008000"/>
                </a:solidFill>
                <a:latin typeface="Consolas"/>
                <a:ea typeface="Verdana"/>
              </a:rPr>
              <a:t>#!/bin/bash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200" spc="-1" strike="noStrike">
                <a:solidFill>
                  <a:srgbClr val="007acc"/>
                </a:solidFill>
                <a:latin typeface="Consolas"/>
                <a:ea typeface="Verdana"/>
              </a:rPr>
              <a:t>echo</a:t>
            </a:r>
            <a:r>
              <a:rPr b="0" lang="en-US" sz="1200" spc="-1" strike="noStrike">
                <a:solidFill>
                  <a:schemeClr val="dk1"/>
                </a:solidFill>
                <a:latin typeface="Consolas"/>
                <a:ea typeface="Verdana"/>
              </a:rPr>
              <a:t> </a:t>
            </a:r>
            <a:r>
              <a:rPr b="0" lang="en-US" sz="1200" spc="-1" strike="noStrike">
                <a:solidFill>
                  <a:srgbClr val="008000"/>
                </a:solidFill>
                <a:latin typeface="Consolas"/>
                <a:ea typeface="Verdana"/>
              </a:rPr>
              <a:t>${var}</a:t>
            </a:r>
            <a:br>
              <a:rPr sz="1200"/>
            </a:br>
            <a:br>
              <a:rPr sz="1100"/>
            </a:br>
            <a:r>
              <a:rPr b="0" lang="en-US" sz="1800" spc="-1" strike="noStrike">
                <a:solidFill>
                  <a:schemeClr val="dk1"/>
                </a:solidFill>
                <a:latin typeface="Verdana"/>
                <a:ea typeface="Verdana"/>
              </a:rPr>
              <a:t>Execute the commands:</a:t>
            </a:r>
            <a:r>
              <a:rPr b="0" lang="en-US" sz="1100" spc="-1" strike="noStrike">
                <a:solidFill>
                  <a:srgbClr val="008000"/>
                </a:solidFill>
                <a:latin typeface="Consolas"/>
                <a:ea typeface="Verdana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1400" spc="-1" strike="noStrike">
                <a:solidFill>
                  <a:schemeClr val="dk1"/>
                </a:solidFill>
                <a:latin typeface="Consolas"/>
                <a:ea typeface="Verdana"/>
              </a:rPr>
              <a:t>$ var=Hello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onsolas"/>
                <a:ea typeface="Verdana"/>
              </a:rPr>
              <a:t>$ ./var.sh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onsolas"/>
                <a:ea typeface="Verdana"/>
              </a:rPr>
              <a:t>→ </a:t>
            </a:r>
            <a:r>
              <a:rPr b="0" lang="en-US" sz="1400" spc="-1" strike="noStrike">
                <a:solidFill>
                  <a:schemeClr val="dk1"/>
                </a:solidFill>
                <a:latin typeface="Consolas"/>
                <a:ea typeface="Verdana"/>
              </a:rPr>
              <a:t>no output</a:t>
            </a:r>
            <a:br>
              <a:rPr sz="1400"/>
            </a:br>
            <a:r>
              <a:rPr b="0" lang="en-US" sz="1400" spc="-1" strike="noStrike">
                <a:solidFill>
                  <a:schemeClr val="dk1"/>
                </a:solidFill>
                <a:latin typeface="Consolas"/>
                <a:ea typeface="Verdana"/>
              </a:rPr>
              <a:t>$ </a:t>
            </a:r>
            <a:r>
              <a:rPr b="0" lang="en-US" sz="1400" spc="-1" strike="noStrike">
                <a:solidFill>
                  <a:srgbClr val="007acc"/>
                </a:solidFill>
                <a:latin typeface="Consolas"/>
                <a:ea typeface="Verdana"/>
              </a:rPr>
              <a:t>echo</a:t>
            </a:r>
            <a:r>
              <a:rPr b="0" lang="en-US" sz="1400" spc="-1" strike="noStrike">
                <a:solidFill>
                  <a:schemeClr val="dk1"/>
                </a:solidFill>
                <a:latin typeface="Consolas"/>
                <a:ea typeface="Verdana"/>
              </a:rPr>
              <a:t> </a:t>
            </a:r>
            <a:r>
              <a:rPr b="0" lang="en-US" sz="1400" spc="-1" strike="noStrike">
                <a:solidFill>
                  <a:srgbClr val="008000"/>
                </a:solidFill>
                <a:latin typeface="Consolas"/>
                <a:ea typeface="Verdana"/>
              </a:rPr>
              <a:t>$var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8000"/>
                </a:solidFill>
                <a:latin typeface="Consolas"/>
                <a:ea typeface="Verdana"/>
              </a:rPr>
              <a:t>Hello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onsolas"/>
                <a:ea typeface="Verdana"/>
              </a:rPr>
              <a:t>$ </a:t>
            </a:r>
            <a:r>
              <a:rPr b="0" lang="en-US" sz="1400" spc="-1" strike="noStrike">
                <a:solidFill>
                  <a:srgbClr val="007acc"/>
                </a:solidFill>
                <a:latin typeface="Consolas"/>
                <a:ea typeface="Verdana"/>
              </a:rPr>
              <a:t>export</a:t>
            </a:r>
            <a:r>
              <a:rPr b="0" lang="en-US" sz="1400" spc="-1" strike="noStrike">
                <a:solidFill>
                  <a:schemeClr val="dk1"/>
                </a:solidFill>
                <a:latin typeface="Consolas"/>
                <a:ea typeface="Verdana"/>
              </a:rPr>
              <a:t> var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onsolas"/>
                <a:ea typeface="Verdana"/>
              </a:rPr>
              <a:t>$ ./var.sh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onsolas"/>
                <a:ea typeface="Verdana"/>
              </a:rPr>
              <a:t>Hello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Variables scope – use export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49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0907CC-3B21-43A7-8250-30E2004B7501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556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If you want to change variables outside the script </a:t>
            </a:r>
            <a:br>
              <a:rPr sz="2000"/>
            </a:b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(such as environment variables):</a:t>
            </a:r>
            <a:br>
              <a:rPr sz="2000"/>
            </a:br>
            <a:br>
              <a:rPr sz="2000"/>
            </a:b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export PATH=${PATH}:/home/jan/bin</a:t>
            </a:r>
            <a:br>
              <a:rPr sz="2000"/>
            </a:br>
            <a:r>
              <a:rPr b="0" lang="en-US" sz="2000" spc="-1" strike="noStrike">
                <a:solidFill>
                  <a:schemeClr val="dk1"/>
                </a:solidFill>
                <a:latin typeface="Verdana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Variables scope – use export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50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B486E6-1EB2-415B-B7B2-EB66505BC1A5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01520"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Create readonly variables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(like "final" in Java)</a:t>
            </a:r>
            <a:br>
              <a:rPr sz="2000"/>
            </a:br>
            <a:br>
              <a:rPr sz="2000"/>
            </a:b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Verdana"/>
              </a:rPr>
              <a:t>$ readonly backup_dir="/root"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Verdana"/>
              </a:rPr>
              <a:t>$ echo $backup_dir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Verdana"/>
              </a:rPr>
              <a:t>/root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Verdana"/>
              </a:rPr>
              <a:t>$ backup_dir="/etc"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Consolas"/>
                <a:ea typeface="Verdana"/>
              </a:rPr>
              <a:t>-bash: backup_dir: readonly variable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"read only" Variables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51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D86F8F-7CC5-4DF4-992C-22187202E577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/>
          </p:nvPr>
        </p:nvSpPr>
        <p:spPr>
          <a:xfrm>
            <a:off x="339120" y="1116000"/>
            <a:ext cx="8696880" cy="348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3012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Variables do not need to be declared: they are always of type </a:t>
            </a:r>
            <a:r>
              <a:rPr b="0" lang="nl-BE" sz="1600" spc="-1" strike="noStrike" u="sng">
                <a:solidFill>
                  <a:schemeClr val="dk1"/>
                </a:solidFill>
                <a:uFillTx/>
                <a:latin typeface="Verdana"/>
                <a:ea typeface="Verdana"/>
              </a:rPr>
              <a:t>String.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You can put a number in a variable, but it will then be a String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If you want to perform calculations with these numbers, use the following syntax (only works with integers!):</a:t>
            </a:r>
            <a:br>
              <a:rPr sz="1600"/>
            </a:br>
            <a:r>
              <a:rPr b="0" lang="nl-BE" sz="1600" spc="-1" strike="noStrike">
                <a:solidFill>
                  <a:schemeClr val="dk1"/>
                </a:solidFill>
                <a:latin typeface="Verdana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var=1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echo $((var+1))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var=$((var+4))</a:t>
            </a: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Numeric variables - integers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52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78BFEB-B382-41B8-8BF8-80B1AF108A0C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/>
          </p:nvPr>
        </p:nvSpPr>
        <p:spPr>
          <a:xfrm>
            <a:off x="339120" y="1116000"/>
            <a:ext cx="8696880" cy="379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3012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Install bc → </a:t>
            </a:r>
            <a:r>
              <a:rPr b="0" lang="nl-BE" sz="1600" spc="-1" strike="noStrike">
                <a:solidFill>
                  <a:schemeClr val="dk1"/>
                </a:solidFill>
                <a:latin typeface="Courier New"/>
                <a:ea typeface="Verdana"/>
              </a:rPr>
              <a:t>sudo dnf install bc</a:t>
            </a:r>
            <a:br>
              <a:rPr sz="1600"/>
            </a:b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bash calculator</a:t>
            </a:r>
            <a:br>
              <a:rPr sz="1600"/>
            </a:br>
            <a:r>
              <a:rPr b="0" lang="nl-BE" sz="1600" spc="-1" strike="noStrike">
                <a:solidFill>
                  <a:schemeClr val="dk1"/>
                </a:solidFill>
                <a:latin typeface="Verdana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3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bc accepts a string as input</a:t>
            </a:r>
            <a:br>
              <a:rPr sz="1600"/>
            </a:b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eg. echo "3.14 * 2* 3.0" | bc –l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buNone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If you want to calculate with variables: </a:t>
            </a:r>
            <a:br>
              <a:rPr sz="2000"/>
            </a:b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     </a:t>
            </a:r>
            <a:r>
              <a:rPr b="0" lang="nl-BE" sz="1800" spc="-1" strike="noStrike">
                <a:solidFill>
                  <a:schemeClr val="dk1"/>
                </a:solidFill>
                <a:latin typeface="Consolas"/>
                <a:ea typeface="Verdana"/>
              </a:rPr>
              <a:t>pi=3.14</a:t>
            </a:r>
            <a:br>
              <a:rPr sz="1800"/>
            </a:br>
            <a:r>
              <a:rPr b="0" lang="nl-BE" sz="1800" spc="-1" strike="noStrike">
                <a:solidFill>
                  <a:schemeClr val="dk1"/>
                </a:solidFill>
                <a:latin typeface="Consolas"/>
                <a:ea typeface="Verdana"/>
              </a:rPr>
              <a:t>    rad=3 </a:t>
            </a:r>
            <a:br>
              <a:rPr sz="1800"/>
            </a:br>
            <a:r>
              <a:rPr b="0" lang="nl-BE" sz="1800" spc="-1" strike="noStrike">
                <a:solidFill>
                  <a:schemeClr val="dk1"/>
                </a:solidFill>
                <a:latin typeface="Consolas"/>
                <a:ea typeface="Verdana"/>
              </a:rPr>
              <a:t>    echo "$pi * 2 * $rad" | bc –l</a:t>
            </a:r>
            <a:br>
              <a:rPr sz="1800"/>
            </a:br>
            <a:r>
              <a:rPr b="0" lang="nl-BE" sz="1800" spc="-1" strike="noStrike">
                <a:solidFill>
                  <a:schemeClr val="dk1"/>
                </a:solidFill>
                <a:latin typeface="Consolas"/>
                <a:ea typeface="Verdana"/>
              </a:rPr>
              <a:t>    echo $(echo "$pi * 2 * $rad" | bc -l)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Consolas"/>
                <a:ea typeface="Verdana"/>
              </a:rPr>
              <a:t>circ=$(echo "$pi * 2 * $rad" | bc -l)</a:t>
            </a:r>
            <a:br>
              <a:rPr sz="1800"/>
            </a:br>
            <a:r>
              <a:rPr b="0" lang="nl-BE" sz="1800" spc="-1" strike="noStrike">
                <a:solidFill>
                  <a:schemeClr val="dk1"/>
                </a:solidFill>
                <a:latin typeface="Consolas"/>
                <a:ea typeface="Verdana"/>
              </a:rPr>
              <a:t>printf "%.2f\n" "$circ"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Numeric variables – decimal numbers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53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27A93C-C58C-496A-B0D0-CBA37F86FC9E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6335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820" spc="-1" strike="noStrike">
                <a:solidFill>
                  <a:schemeClr val="dk1"/>
                </a:solidFill>
                <a:latin typeface="Courier New"/>
                <a:ea typeface="Courier New"/>
              </a:rPr>
              <a:t>#!/bin/bash</a:t>
            </a:r>
            <a:endParaRPr b="0" lang="en-US" sz="182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br>
              <a:rPr sz="100"/>
            </a:br>
            <a:br>
              <a:rPr sz="100"/>
            </a:br>
            <a:r>
              <a:rPr b="1" lang="nl-BE" sz="1800" spc="-1" strike="noStrike">
                <a:solidFill>
                  <a:srgbClr val="ff4000"/>
                </a:solidFill>
                <a:latin typeface="Courier New"/>
                <a:ea typeface="Courier New"/>
              </a:rPr>
              <a:t>readonly </a:t>
            </a: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backup_dir=/temporary</a:t>
            </a:r>
            <a:br>
              <a:rPr sz="100"/>
            </a:br>
            <a:r>
              <a:rPr b="1" lang="nl-BE" sz="1800" spc="-1" strike="noStrike">
                <a:solidFill>
                  <a:srgbClr val="ff4000"/>
                </a:solidFill>
                <a:latin typeface="Courier New"/>
                <a:ea typeface="Courier New"/>
              </a:rPr>
              <a:t>readonly </a:t>
            </a: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files=/root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2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br>
              <a:rPr sz="100"/>
            </a:br>
            <a:r>
              <a:rPr b="1" lang="nl-BE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echo </a:t>
            </a:r>
            <a:r>
              <a:rPr b="1" lang="nl-BE" sz="1800" spc="-1" strike="noStrike">
                <a:solidFill>
                  <a:srgbClr val="00b050"/>
                </a:solidFill>
                <a:latin typeface="Courier New"/>
                <a:ea typeface="Courier New"/>
              </a:rPr>
              <a:t>-n</a:t>
            </a:r>
            <a:r>
              <a:rPr b="1" lang="nl-BE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 "enter backup filename -&gt;"</a:t>
            </a:r>
            <a:br>
              <a:rPr sz="100"/>
            </a:br>
            <a:r>
              <a:rPr b="1" lang="nl-BE" sz="1800" spc="-1" strike="noStrike">
                <a:solidFill>
                  <a:srgbClr val="ff0000"/>
                </a:solidFill>
                <a:latin typeface="Courier New"/>
                <a:ea typeface="Courier New"/>
              </a:rPr>
              <a:t>read -r backup_file</a:t>
            </a:r>
            <a:br>
              <a:rPr sz="100"/>
            </a:b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"Backing up to ${backup_file}..."</a:t>
            </a:r>
            <a:br>
              <a:rPr sz="100"/>
            </a:b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tar -zcf "${backup_dir}/${backup_file}" ${files} 2&gt;/dev/null</a:t>
            </a:r>
            <a:br>
              <a:rPr sz="100"/>
            </a:b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sync</a:t>
            </a:r>
            <a:br>
              <a:rPr sz="100"/>
            </a:b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"Done."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Input questions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54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643E30-517A-4207-AD68-015B6FC099F1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4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read is a bash "built-in", not a separate programme.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There is no man page, but you can request help via: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7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rgbClr val="ff4000"/>
                </a:solidFill>
                <a:latin typeface="Courier New"/>
                <a:ea typeface="Courier New"/>
              </a:rPr>
              <a:t>help read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7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rgbClr val="ff4000"/>
                </a:solidFill>
                <a:latin typeface="Courier New"/>
                <a:ea typeface="Courier New"/>
              </a:rPr>
              <a:t>help –r → do not allow backslashes </a:t>
            </a:r>
            <a:br>
              <a:rPr sz="2000"/>
            </a:br>
            <a:r>
              <a:rPr b="0" lang="nl-BE" sz="2000" spc="-1" strike="noStrike">
                <a:solidFill>
                  <a:srgbClr val="ff4000"/>
                </a:solidFill>
                <a:latin typeface="Courier New"/>
                <a:ea typeface="Courier New"/>
              </a:rPr>
              <a:t>help –s → do not echo input coming from a terminal</a:t>
            </a:r>
            <a:br>
              <a:rPr sz="2000"/>
            </a:br>
            <a:r>
              <a:rPr b="0" lang="nl-BE" sz="2000" spc="-1" strike="noStrike">
                <a:solidFill>
                  <a:srgbClr val="ff4000"/>
                </a:solidFill>
                <a:latin typeface="Courier New"/>
                <a:ea typeface="Courier New"/>
              </a:rPr>
              <a:t>help –rs → use this for passwords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7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read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55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AB7501-3A60-4D40-AE15-73A55AE9412C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101520" indent="0">
              <a:lnSpc>
                <a:spcPct val="114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Create a script that asks the user for two numbers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1520"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and returns the sum</a:t>
            </a:r>
            <a:br>
              <a:rPr sz="2000"/>
            </a:br>
            <a:br>
              <a:rPr sz="2000"/>
            </a:b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Example ouput: </a:t>
            </a:r>
            <a:br>
              <a:rPr sz="2000"/>
            </a:b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571680"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Enter a number: 37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571680"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Enter a number: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571680" indent="0">
              <a:lnSpc>
                <a:spcPct val="114000"/>
              </a:lnSpc>
              <a:buNone/>
              <a:tabLst>
                <a:tab algn="l" pos="0"/>
              </a:tabLst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The sum of 37 and 5 is 42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Exercise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56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4047C8-065A-4736-B9FA-5BA38CA14178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556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${word} displays the content of "word", but what if it does not exist?</a:t>
            </a:r>
            <a:br>
              <a:rPr sz="2000"/>
            </a:br>
            <a:r>
              <a:rPr b="0" lang="nl-BE" sz="2000" spc="-1" strike="noStrike">
                <a:solidFill>
                  <a:schemeClr val="dk1"/>
                </a:solidFill>
                <a:latin typeface="Verdana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${word:-hello}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displays the content of the variable "word"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if "word" does not exist (or is empty), this returns the word "hello"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does not change the value of "word"!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Default values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57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F14AD8-3B8C-470B-8555-93AD80D2DDB8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/>
          </p:nvPr>
        </p:nvSpPr>
        <p:spPr>
          <a:xfrm>
            <a:off x="382680" y="1441440"/>
            <a:ext cx="876096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#!/bin/bash</a:t>
            </a:r>
            <a:br>
              <a:rPr sz="1600"/>
            </a:b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backup_dir=/temporary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files=/root</a:t>
            </a:r>
            <a:br>
              <a:rPr sz="1600"/>
            </a:b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-n "enter backup filename </a:t>
            </a:r>
            <a:r>
              <a:rPr b="1" lang="nl-BE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(backup.tgz) </a:t>
            </a: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-&gt;"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read -r backup_file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"Backing up to </a:t>
            </a:r>
            <a:r>
              <a:rPr b="1" lang="nl-BE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${backup_file:-backup.tgz}</a:t>
            </a: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..."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tar -zcf "</a:t>
            </a:r>
            <a:r>
              <a:rPr b="1" lang="nl-BE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$backup_dir/${backup_file:-backup.tgz}</a:t>
            </a: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" ${files} 2&gt;/dev/null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sync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"Done."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Default values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58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E805FF-1395-42E8-AE7A-EAFCBF54AEFE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Google Shape;463;p62"/>
          <p:cNvSpPr/>
          <p:nvPr/>
        </p:nvSpPr>
        <p:spPr>
          <a:xfrm>
            <a:off x="6489000" y="1187640"/>
            <a:ext cx="2205000" cy="1285200"/>
          </a:xfrm>
          <a:prstGeom prst="wedgeRectCallout">
            <a:avLst>
              <a:gd name="adj1" fmla="val -65255"/>
              <a:gd name="adj2" fmla="val 129834"/>
            </a:avLst>
          </a:prstGeom>
          <a:solidFill>
            <a:srgbClr val="d9ead3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400" spc="-1" strike="noStrike">
                <a:solidFill>
                  <a:srgbClr val="000000"/>
                </a:solidFill>
                <a:latin typeface="Verdana"/>
                <a:ea typeface="Verdana"/>
              </a:rPr>
              <a:t>is used if backup_file does not exist or is empty;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400" spc="-1" strike="noStrike">
                <a:solidFill>
                  <a:srgbClr val="000000"/>
                </a:solidFill>
                <a:latin typeface="Verdana"/>
                <a:ea typeface="Verdana"/>
              </a:rPr>
              <a:t>the variable remains empty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556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${word} displays the content of "word", but what if it does not exist?</a:t>
            </a:r>
            <a:br>
              <a:rPr sz="2000"/>
            </a:br>
            <a:r>
              <a:rPr b="0" lang="en-US" sz="2000" spc="-1" strike="noStrike">
                <a:solidFill>
                  <a:schemeClr val="dk1"/>
                </a:solidFill>
                <a:latin typeface="Verdana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3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${word:=hello}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returns the content of the variable "word"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if "word" does not exist (or is empty), this returns the word "hello" and the variable also gets this value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Default values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9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29AD6F-0514-4E0E-A04D-FD6F1F7372EC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51364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#!/bin/bash</a:t>
            </a:r>
            <a:br>
              <a:rPr sz="1600"/>
            </a:b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backup_dir=/temporary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files=/root</a:t>
            </a:r>
            <a:br>
              <a:rPr sz="1600"/>
            </a:b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-n "enter backup filename </a:t>
            </a:r>
            <a:r>
              <a:rPr b="1" lang="nl-BE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(backup.tgz) </a:t>
            </a: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-&gt;"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read -r backup_file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"Backing up to </a:t>
            </a:r>
            <a:r>
              <a:rPr b="1" lang="nl-BE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${backup_file:=backup.tgz}</a:t>
            </a: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..."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tar -zcf "${backup_dir}</a:t>
            </a:r>
            <a:r>
              <a:rPr b="1" lang="nl-BE" sz="1600" spc="-1" strike="noStrike">
                <a:solidFill>
                  <a:srgbClr val="ff0000"/>
                </a:solidFill>
                <a:latin typeface="Courier New"/>
                <a:ea typeface="Courier New"/>
              </a:rPr>
              <a:t>/${backup_file}</a:t>
            </a: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" ${files} 2&gt;/dev/null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sync</a:t>
            </a:r>
            <a:br>
              <a:rPr sz="1600"/>
            </a:b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"Done."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Default values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60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DFD167-C5E2-4F3B-BDC6-B5FB6FCA59BC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Google Shape;480;p64"/>
          <p:cNvSpPr/>
          <p:nvPr/>
        </p:nvSpPr>
        <p:spPr>
          <a:xfrm>
            <a:off x="6653520" y="1258920"/>
            <a:ext cx="2070360" cy="1213920"/>
          </a:xfrm>
          <a:prstGeom prst="wedgeRectCallout">
            <a:avLst>
              <a:gd name="adj1" fmla="val -65255"/>
              <a:gd name="adj2" fmla="val 129834"/>
            </a:avLst>
          </a:prstGeom>
          <a:solidFill>
            <a:srgbClr val="d9ead3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200" spc="-1" strike="noStrike">
                <a:solidFill>
                  <a:srgbClr val="000000"/>
                </a:solidFill>
                <a:latin typeface="Verdana"/>
                <a:ea typeface="Verdana"/>
              </a:rPr>
              <a:t>is used if backup_file does not exist or is empty;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400" spc="-1" strike="noStrike">
                <a:solidFill>
                  <a:srgbClr val="000000"/>
                </a:solidFill>
                <a:latin typeface="Verdana"/>
                <a:ea typeface="Verdana"/>
              </a:rPr>
              <a:t>the variable is now also changed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556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You can also check whether a variable has a value ${word:?variable does not exist!}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continues if "word" already has a value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gives an error message if "word" has no value</a:t>
            </a:r>
            <a:br>
              <a:rPr sz="1800"/>
            </a:b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and stops the script</a:t>
            </a:r>
            <a:br>
              <a:rPr sz="1800"/>
            </a:br>
            <a:r>
              <a:rPr b="0" lang="nl-BE" sz="1800" spc="-1" strike="noStrike">
                <a:solidFill>
                  <a:schemeClr val="dk1"/>
                </a:solidFill>
                <a:latin typeface="Verdana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example: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cd ${JAVA_HOME:?"error JAVA_HOME is empty"}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param1=${1:?Parameter missing}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Checking variables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61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DE2AE8-04F0-4B45-BE87-7B1DA1785687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412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nl-BE" sz="3200" spc="-1" strike="noStrike">
                <a:solidFill>
                  <a:schemeClr val="dk1"/>
                </a:solidFill>
                <a:latin typeface="Verdana"/>
                <a:ea typeface="Verdana"/>
              </a:rPr>
              <a:t>Quotes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556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There are three types of quotations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'single': take the text between them literally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'double': replace any variables with their value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back quotes: execute the command within the quotes and replace the variable with the standard output command</a:t>
            </a:r>
            <a:br>
              <a:rPr sz="1800"/>
            </a:br>
            <a:r>
              <a:rPr b="0" lang="nl-BE" sz="1800" spc="-1" strike="noStrike">
                <a:solidFill>
                  <a:srgbClr val="ff0000"/>
                </a:solidFill>
                <a:latin typeface="Verdana"/>
                <a:ea typeface="Verdana"/>
              </a:rPr>
              <a:t>legacy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Quotes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62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0BDDBB-90C2-4465-983B-A457A791CDF4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4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hello=”hola”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echo "date ${hello}"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echo "date \${hello}"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echo 'date ${hello}'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echo `date` ${hello}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7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Back quotes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63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8A838C-E271-462F-898F-86F9197518B3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TextBox 1"/>
          <p:cNvSpPr/>
          <p:nvPr/>
        </p:nvSpPr>
        <p:spPr>
          <a:xfrm>
            <a:off x="4279680" y="2780640"/>
            <a:ext cx="3652560" cy="17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70c0"/>
                </a:solidFill>
                <a:latin typeface="Arial"/>
                <a:ea typeface="Arial"/>
              </a:rPr>
              <a:t>The use of backquotes for command execution is legacy.</a:t>
            </a:r>
            <a:br>
              <a:rPr sz="1400"/>
            </a:br>
            <a:r>
              <a:rPr b="0" lang="en-US" sz="1400" spc="-1" strike="noStrike">
                <a:solidFill>
                  <a:srgbClr val="0070c0"/>
                </a:solidFill>
                <a:latin typeface="Arial"/>
                <a:ea typeface="Arial"/>
              </a:rPr>
              <a:t>It is not very readable and prone to errors.</a:t>
            </a:r>
            <a:br>
              <a:rPr sz="1400"/>
            </a:br>
            <a:br>
              <a:rPr sz="1400"/>
            </a:br>
            <a:r>
              <a:rPr b="0" lang="en-US" sz="1400" spc="-1" strike="noStrike">
                <a:solidFill>
                  <a:srgbClr val="0070c0"/>
                </a:solidFill>
                <a:latin typeface="Arial"/>
                <a:ea typeface="Arial"/>
              </a:rPr>
              <a:t>Use </a:t>
            </a:r>
            <a:r>
              <a:rPr b="0" lang="en-US" sz="1400" spc="-1" strike="noStrike">
                <a:solidFill>
                  <a:srgbClr val="00b050"/>
                </a:solidFill>
                <a:latin typeface="Arial"/>
                <a:ea typeface="Arial"/>
              </a:rPr>
              <a:t>command substitution</a:t>
            </a:r>
            <a:r>
              <a:rPr b="0" lang="en-US" sz="1400" spc="-1" strike="noStrike">
                <a:solidFill>
                  <a:srgbClr val="0070c0"/>
                </a:solidFill>
                <a:latin typeface="Arial"/>
                <a:ea typeface="Arial"/>
              </a:rPr>
              <a:t> instead</a:t>
            </a:r>
            <a:br>
              <a:rPr sz="1400"/>
            </a:br>
            <a:br>
              <a:rPr sz="1400"/>
            </a:br>
            <a:r>
              <a:rPr b="0" lang="en-US" sz="1400" spc="-1" strike="noStrike">
                <a:solidFill>
                  <a:srgbClr val="ff0000"/>
                </a:solidFill>
                <a:latin typeface="Arial"/>
                <a:ea typeface="Arial"/>
              </a:rPr>
              <a:t>`date`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b050"/>
                </a:solidFill>
                <a:latin typeface="Arial"/>
                <a:ea typeface="Arial"/>
              </a:rPr>
              <a:t>$(date)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cat $(ls *.java) | grep -E "$bla"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sldNum" idx="64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8045A6-7BA0-4871-8510-A6BFFFE091ED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Google Shape;518;p69"/>
          <p:cNvSpPr/>
          <p:nvPr/>
        </p:nvSpPr>
        <p:spPr>
          <a:xfrm>
            <a:off x="221760" y="1359360"/>
            <a:ext cx="906480" cy="539640"/>
          </a:xfrm>
          <a:prstGeom prst="rect">
            <a:avLst/>
          </a:prstGeom>
          <a:solidFill>
            <a:srgbClr val="0084d1"/>
          </a:solidFill>
          <a:ln w="9525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Arial"/>
                <a:ea typeface="Arial"/>
              </a:rPr>
              <a:t>bash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56" name="Google Shape;519;p69"/>
          <p:cNvCxnSpPr>
            <a:stCxn id="355" idx="3"/>
            <a:endCxn id="357" idx="0"/>
          </p:cNvCxnSpPr>
          <p:nvPr/>
        </p:nvCxnSpPr>
        <p:spPr>
          <a:xfrm>
            <a:off x="1128240" y="1629000"/>
            <a:ext cx="853200" cy="666720"/>
          </a:xfrm>
          <a:prstGeom prst="bentConnector2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58" name="Google Shape;521;p69"/>
          <p:cNvSpPr/>
          <p:nvPr/>
        </p:nvSpPr>
        <p:spPr>
          <a:xfrm>
            <a:off x="7723080" y="1834560"/>
            <a:ext cx="1259640" cy="539640"/>
          </a:xfrm>
          <a:prstGeom prst="rect">
            <a:avLst/>
          </a:prstGeom>
          <a:solidFill>
            <a:srgbClr val="0084d1"/>
          </a:solidFill>
          <a:ln w="9525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Arial"/>
                <a:ea typeface="Arial"/>
              </a:rPr>
              <a:t>bash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59" name="Google Shape;522;p69"/>
          <p:cNvCxnSpPr>
            <a:stCxn id="360" idx="0"/>
            <a:endCxn id="358" idx="1"/>
          </p:cNvCxnSpPr>
          <p:nvPr/>
        </p:nvCxnSpPr>
        <p:spPr>
          <a:xfrm flipH="1" flipV="1" rot="5400000">
            <a:off x="6815160" y="1987200"/>
            <a:ext cx="790920" cy="1025280"/>
          </a:xfrm>
          <a:prstGeom prst="bentConnector2">
            <a:avLst/>
          </a:prstGeom>
          <a:ln w="9525">
            <a:solidFill>
              <a:srgbClr val="8460ac"/>
            </a:solidFill>
            <a:round/>
            <a:tailEnd len="med" type="triangle" w="med"/>
          </a:ln>
        </p:spPr>
      </p:cxnSp>
      <p:sp>
        <p:nvSpPr>
          <p:cNvPr id="361" name="Google Shape;524;p69"/>
          <p:cNvSpPr/>
          <p:nvPr/>
        </p:nvSpPr>
        <p:spPr>
          <a:xfrm>
            <a:off x="901080" y="1529640"/>
            <a:ext cx="113472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"*.java"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Google Shape;525;p69"/>
          <p:cNvSpPr/>
          <p:nvPr/>
        </p:nvSpPr>
        <p:spPr>
          <a:xfrm>
            <a:off x="5808600" y="1766880"/>
            <a:ext cx="159660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exit codes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Google Shape;526;p69"/>
          <p:cNvSpPr/>
          <p:nvPr/>
        </p:nvSpPr>
        <p:spPr>
          <a:xfrm>
            <a:off x="7455600" y="3020760"/>
            <a:ext cx="10612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stdout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Google Shape;527;p69"/>
          <p:cNvSpPr/>
          <p:nvPr/>
        </p:nvSpPr>
        <p:spPr>
          <a:xfrm>
            <a:off x="6815160" y="4374360"/>
            <a:ext cx="1003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stderr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Google Shape;528;p69"/>
          <p:cNvSpPr/>
          <p:nvPr/>
        </p:nvSpPr>
        <p:spPr>
          <a:xfrm>
            <a:off x="7885440" y="3690000"/>
            <a:ext cx="1260000" cy="53964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700" spc="-1" strike="noStrike">
                <a:solidFill>
                  <a:schemeClr val="lt1"/>
                </a:solidFill>
                <a:highlight>
                  <a:srgbClr val="000000"/>
                </a:highlight>
                <a:latin typeface="Verdana"/>
                <a:ea typeface="Verdana"/>
              </a:rPr>
              <a:t>console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66" name="Google Shape;529;p69"/>
          <p:cNvCxnSpPr>
            <a:stCxn id="367" idx="2"/>
            <a:endCxn id="365" idx="2"/>
          </p:cNvCxnSpPr>
          <p:nvPr/>
        </p:nvCxnSpPr>
        <p:spPr>
          <a:xfrm flipH="1" rot="16200000">
            <a:off x="7441200" y="3155040"/>
            <a:ext cx="378720" cy="1770840"/>
          </a:xfrm>
          <a:prstGeom prst="bentConnector3">
            <a:avLst>
              <a:gd name="adj1" fmla="val 262892"/>
            </a:avLst>
          </a:prstGeom>
          <a:ln w="9525">
            <a:solidFill>
              <a:srgbClr val="000000"/>
            </a:solidFill>
            <a:round/>
            <a:tailEnd len="med" type="triangle" w="med"/>
          </a:ln>
        </p:spPr>
      </p:cxnSp>
      <p:grpSp>
        <p:nvGrpSpPr>
          <p:cNvPr id="368" name="Google Shape;531;p69"/>
          <p:cNvGrpSpPr/>
          <p:nvPr/>
        </p:nvGrpSpPr>
        <p:grpSpPr>
          <a:xfrm>
            <a:off x="5704200" y="2894760"/>
            <a:ext cx="1419840" cy="956520"/>
            <a:chOff x="5704200" y="2894760"/>
            <a:chExt cx="1419840" cy="956520"/>
          </a:xfrm>
        </p:grpSpPr>
        <p:sp>
          <p:nvSpPr>
            <p:cNvPr id="369" name="Google Shape;532;p69"/>
            <p:cNvSpPr/>
            <p:nvPr/>
          </p:nvSpPr>
          <p:spPr>
            <a:xfrm>
              <a:off x="5704200" y="2899800"/>
              <a:ext cx="1419840" cy="951480"/>
            </a:xfrm>
            <a:prstGeom prst="roundRect">
              <a:avLst>
                <a:gd name="adj" fmla="val 16667"/>
              </a:avLst>
            </a:prstGeom>
            <a:solidFill>
              <a:srgbClr val="00ff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nl-BE" sz="2100" spc="-1" strike="noStrike">
                  <a:solidFill>
                    <a:srgbClr val="000000"/>
                  </a:solidFill>
                  <a:latin typeface="Verdana"/>
                  <a:ea typeface="Verdana"/>
                </a:rPr>
                <a:t>grep</a:t>
              </a:r>
              <a:endParaRPr b="0" lang="en-US" sz="21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7" name="Google Shape;530;p69"/>
            <p:cNvSpPr/>
            <p:nvPr/>
          </p:nvSpPr>
          <p:spPr>
            <a:xfrm>
              <a:off x="6664680" y="3735000"/>
              <a:ext cx="160920" cy="11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Verdana"/>
                <a:ea typeface="Verdana"/>
              </a:endParaRPr>
            </a:p>
          </p:txBody>
        </p:sp>
        <p:sp>
          <p:nvSpPr>
            <p:cNvPr id="360" name="Google Shape;523;p69"/>
            <p:cNvSpPr/>
            <p:nvPr/>
          </p:nvSpPr>
          <p:spPr>
            <a:xfrm>
              <a:off x="6617880" y="2894760"/>
              <a:ext cx="160920" cy="11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Verdana"/>
                <a:ea typeface="Verdana"/>
              </a:endParaRPr>
            </a:p>
          </p:txBody>
        </p:sp>
        <p:sp>
          <p:nvSpPr>
            <p:cNvPr id="370" name="Google Shape;533;p69"/>
            <p:cNvSpPr/>
            <p:nvPr/>
          </p:nvSpPr>
          <p:spPr>
            <a:xfrm>
              <a:off x="5902920" y="2899800"/>
              <a:ext cx="160920" cy="11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8320" bIns="5832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Verdana"/>
                <a:ea typeface="Verdana"/>
              </a:endParaRPr>
            </a:p>
          </p:txBody>
        </p:sp>
      </p:grpSp>
      <p:sp>
        <p:nvSpPr>
          <p:cNvPr id="371" name="Google Shape;534;p69"/>
          <p:cNvSpPr/>
          <p:nvPr/>
        </p:nvSpPr>
        <p:spPr>
          <a:xfrm>
            <a:off x="3760560" y="2897640"/>
            <a:ext cx="1419840" cy="951120"/>
          </a:xfrm>
          <a:prstGeom prst="roundRect">
            <a:avLst>
              <a:gd name="adj" fmla="val 16667"/>
            </a:avLst>
          </a:prstGeom>
          <a:solidFill>
            <a:srgbClr val="00ff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2100" spc="-1" strike="noStrike">
                <a:solidFill>
                  <a:srgbClr val="000000"/>
                </a:solidFill>
                <a:latin typeface="Verdana"/>
                <a:ea typeface="Verdana"/>
              </a:rPr>
              <a:t>cat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Google Shape;535;p69"/>
          <p:cNvSpPr/>
          <p:nvPr/>
        </p:nvSpPr>
        <p:spPr>
          <a:xfrm>
            <a:off x="2133360" y="3713040"/>
            <a:ext cx="1272960" cy="592200"/>
          </a:xfrm>
          <a:prstGeom prst="flowChartManualOperation">
            <a:avLst/>
          </a:prstGeom>
          <a:solidFill>
            <a:srgbClr val="f6b26b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600" spc="-1" strike="noStrike">
                <a:solidFill>
                  <a:srgbClr val="000000"/>
                </a:solidFill>
                <a:latin typeface="Verdana"/>
                <a:ea typeface="Verdana"/>
              </a:rPr>
              <a:t>Java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600" spc="-1" strike="noStrike">
                <a:solidFill>
                  <a:srgbClr val="000000"/>
                </a:solidFill>
                <a:latin typeface="Verdana"/>
                <a:ea typeface="Verdana"/>
              </a:rPr>
              <a:t>files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73" name="Google Shape;536;p69"/>
          <p:cNvCxnSpPr>
            <a:stCxn id="371" idx="3"/>
            <a:endCxn id="369" idx="1"/>
          </p:cNvCxnSpPr>
          <p:nvPr/>
        </p:nvCxnSpPr>
        <p:spPr>
          <a:xfrm>
            <a:off x="5180400" y="3373200"/>
            <a:ext cx="524160" cy="2520"/>
          </a:xfrm>
          <a:prstGeom prst="straightConnector1">
            <a:avLst/>
          </a:prstGeom>
          <a:ln w="19050">
            <a:solidFill>
              <a:srgbClr val="a9cb59"/>
            </a:solidFill>
            <a:round/>
            <a:tailEnd len="med" type="triangle" w="med"/>
          </a:ln>
        </p:spPr>
      </p:cxnSp>
      <p:cxnSp>
        <p:nvCxnSpPr>
          <p:cNvPr id="374" name="Google Shape;537;p69"/>
          <p:cNvCxnSpPr>
            <a:stCxn id="369" idx="3"/>
            <a:endCxn id="365" idx="0"/>
          </p:cNvCxnSpPr>
          <p:nvPr/>
        </p:nvCxnSpPr>
        <p:spPr>
          <a:xfrm>
            <a:off x="7124040" y="3375360"/>
            <a:ext cx="1391760" cy="315000"/>
          </a:xfrm>
          <a:prstGeom prst="bentConnector2">
            <a:avLst/>
          </a:prstGeom>
          <a:ln w="19050">
            <a:solidFill>
              <a:srgbClr val="a9cb59"/>
            </a:solidFill>
            <a:round/>
          </a:ln>
        </p:spPr>
      </p:cxnSp>
      <p:sp>
        <p:nvSpPr>
          <p:cNvPr id="375" name="Google Shape;538;p69"/>
          <p:cNvSpPr/>
          <p:nvPr/>
        </p:nvSpPr>
        <p:spPr>
          <a:xfrm>
            <a:off x="2934360" y="2898360"/>
            <a:ext cx="2206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4880" bIns="74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  <p:cxnSp>
        <p:nvCxnSpPr>
          <p:cNvPr id="376" name="Google Shape;539;p69"/>
          <p:cNvCxnSpPr>
            <a:stCxn id="377" idx="2"/>
            <a:endCxn id="365" idx="2"/>
          </p:cNvCxnSpPr>
          <p:nvPr/>
        </p:nvCxnSpPr>
        <p:spPr>
          <a:xfrm flipH="1" rot="16200000">
            <a:off x="6504480" y="2218680"/>
            <a:ext cx="375480" cy="3646800"/>
          </a:xfrm>
          <a:prstGeom prst="bentConnector3">
            <a:avLst>
              <a:gd name="adj1" fmla="val 263435"/>
            </a:avLst>
          </a:prstGeom>
          <a:ln w="19050">
            <a:solidFill>
              <a:srgbClr val="ff4000"/>
            </a:solidFill>
            <a:round/>
            <a:tailEnd len="med" type="triangle" w="med"/>
          </a:ln>
        </p:spPr>
      </p:cxnSp>
      <p:sp>
        <p:nvSpPr>
          <p:cNvPr id="378" name="Google Shape;541;p69"/>
          <p:cNvSpPr/>
          <p:nvPr/>
        </p:nvSpPr>
        <p:spPr>
          <a:xfrm>
            <a:off x="3971880" y="3972240"/>
            <a:ext cx="2206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4880" bIns="74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  <p:sp>
        <p:nvSpPr>
          <p:cNvPr id="379" name="Google Shape;542;p69"/>
          <p:cNvSpPr/>
          <p:nvPr/>
        </p:nvSpPr>
        <p:spPr>
          <a:xfrm>
            <a:off x="5808600" y="3972240"/>
            <a:ext cx="2206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4880" bIns="74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  <p:sp>
        <p:nvSpPr>
          <p:cNvPr id="380" name="Google Shape;543;p69"/>
          <p:cNvSpPr/>
          <p:nvPr/>
        </p:nvSpPr>
        <p:spPr>
          <a:xfrm>
            <a:off x="4156560" y="2898360"/>
            <a:ext cx="2206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4880" bIns="74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  <p:cxnSp>
        <p:nvCxnSpPr>
          <p:cNvPr id="381" name="Google Shape;544;p69"/>
          <p:cNvCxnSpPr>
            <a:stCxn id="382" idx="0"/>
            <a:endCxn id="358" idx="1"/>
          </p:cNvCxnSpPr>
          <p:nvPr/>
        </p:nvCxnSpPr>
        <p:spPr>
          <a:xfrm flipH="1" flipV="1" rot="5400000">
            <a:off x="5823000" y="994680"/>
            <a:ext cx="790920" cy="3009960"/>
          </a:xfrm>
          <a:prstGeom prst="bentConnector2">
            <a:avLst/>
          </a:prstGeom>
          <a:ln w="9525">
            <a:solidFill>
              <a:srgbClr val="8460ac"/>
            </a:solidFill>
            <a:round/>
            <a:tailEnd len="med" type="triangle" w="med"/>
          </a:ln>
        </p:spPr>
      </p:cxnSp>
      <p:cxnSp>
        <p:nvCxnSpPr>
          <p:cNvPr id="383" name="Google Shape;546;p69"/>
          <p:cNvCxnSpPr>
            <a:stCxn id="372" idx="0"/>
            <a:endCxn id="371" idx="1"/>
          </p:cNvCxnSpPr>
          <p:nvPr/>
        </p:nvCxnSpPr>
        <p:spPr>
          <a:xfrm flipH="1" flipV="1" rot="5400000">
            <a:off x="3095280" y="3047760"/>
            <a:ext cx="340200" cy="991080"/>
          </a:xfrm>
          <a:prstGeom prst="bentConnector2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57" name="Google Shape;520;p69"/>
          <p:cNvSpPr/>
          <p:nvPr/>
        </p:nvSpPr>
        <p:spPr>
          <a:xfrm>
            <a:off x="1413720" y="2295360"/>
            <a:ext cx="1134720" cy="684360"/>
          </a:xfrm>
          <a:prstGeom prst="roundRect">
            <a:avLst>
              <a:gd name="adj" fmla="val 16667"/>
            </a:avLst>
          </a:prstGeom>
          <a:solidFill>
            <a:srgbClr val="00ff0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2100" spc="-1" strike="noStrike">
                <a:solidFill>
                  <a:srgbClr val="000000"/>
                </a:solidFill>
                <a:latin typeface="Verdana"/>
                <a:ea typeface="Verdana"/>
              </a:rPr>
              <a:t>ls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84" name="Google Shape;547;p69"/>
          <p:cNvCxnSpPr>
            <a:stCxn id="357" idx="3"/>
            <a:endCxn id="385" idx="0"/>
          </p:cNvCxnSpPr>
          <p:nvPr/>
        </p:nvCxnSpPr>
        <p:spPr>
          <a:xfrm>
            <a:off x="2548440" y="2637360"/>
            <a:ext cx="1454040" cy="261360"/>
          </a:xfrm>
          <a:prstGeom prst="bentConnector2">
            <a:avLst/>
          </a:prstGeom>
          <a:ln w="9525">
            <a:solidFill>
              <a:srgbClr val="7ab82c"/>
            </a:solidFill>
            <a:round/>
            <a:tailEnd len="med" type="triangle" w="med"/>
          </a:ln>
        </p:spPr>
      </p:cxnSp>
      <p:sp>
        <p:nvSpPr>
          <p:cNvPr id="385" name="Google Shape;548;p69"/>
          <p:cNvSpPr/>
          <p:nvPr/>
        </p:nvSpPr>
        <p:spPr>
          <a:xfrm>
            <a:off x="3891960" y="2898360"/>
            <a:ext cx="2206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4880" bIns="748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  <p:sp>
        <p:nvSpPr>
          <p:cNvPr id="386" name="Google Shape;549;p69"/>
          <p:cNvSpPr/>
          <p:nvPr/>
        </p:nvSpPr>
        <p:spPr>
          <a:xfrm>
            <a:off x="2624760" y="2300400"/>
            <a:ext cx="127296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names java files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7" name="Google Shape;550;p69"/>
          <p:cNvCxnSpPr>
            <a:stCxn id="355" idx="3"/>
            <a:endCxn id="370" idx="0"/>
          </p:cNvCxnSpPr>
          <p:nvPr/>
        </p:nvCxnSpPr>
        <p:spPr>
          <a:xfrm>
            <a:off x="1128240" y="1629000"/>
            <a:ext cx="4855320" cy="1271160"/>
          </a:xfrm>
          <a:prstGeom prst="bentConnector2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388" name="Google Shape;551;p69"/>
          <p:cNvSpPr/>
          <p:nvPr/>
        </p:nvSpPr>
        <p:spPr>
          <a:xfrm>
            <a:off x="3618000" y="1550520"/>
            <a:ext cx="219024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-E contents of $bla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Google Shape;540;p69"/>
          <p:cNvSpPr/>
          <p:nvPr/>
        </p:nvSpPr>
        <p:spPr>
          <a:xfrm>
            <a:off x="4781520" y="3738240"/>
            <a:ext cx="174960" cy="1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8320" bIns="58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  <p:cxnSp>
        <p:nvCxnSpPr>
          <p:cNvPr id="389" name="Google Shape;552;p69"/>
          <p:cNvCxnSpPr>
            <a:stCxn id="390" idx="0"/>
            <a:endCxn id="358" idx="1"/>
          </p:cNvCxnSpPr>
          <p:nvPr/>
        </p:nvCxnSpPr>
        <p:spPr>
          <a:xfrm flipH="1" flipV="1" rot="5400000">
            <a:off x="4912200" y="-515520"/>
            <a:ext cx="191520" cy="5430600"/>
          </a:xfrm>
          <a:prstGeom prst="bentConnector2">
            <a:avLst/>
          </a:prstGeom>
          <a:ln w="9525">
            <a:solidFill>
              <a:srgbClr val="8460ac"/>
            </a:solidFill>
            <a:round/>
            <a:tailEnd len="med" type="triangle" w="med"/>
          </a:ln>
        </p:spPr>
      </p:cxnSp>
      <p:sp>
        <p:nvSpPr>
          <p:cNvPr id="382" name="Google Shape;545;p69"/>
          <p:cNvSpPr/>
          <p:nvPr/>
        </p:nvSpPr>
        <p:spPr>
          <a:xfrm>
            <a:off x="4626000" y="2894760"/>
            <a:ext cx="174960" cy="1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8320" bIns="58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  <p:sp>
        <p:nvSpPr>
          <p:cNvPr id="390" name="Google Shape;553;p69"/>
          <p:cNvSpPr/>
          <p:nvPr/>
        </p:nvSpPr>
        <p:spPr>
          <a:xfrm>
            <a:off x="2205360" y="2295360"/>
            <a:ext cx="174960" cy="1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8320" bIns="58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Verdana"/>
              <a:ea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/>
          </p:nvPr>
        </p:nvSpPr>
        <p:spPr>
          <a:xfrm>
            <a:off x="448200" y="1212840"/>
            <a:ext cx="869544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#!/bin/bash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800" spc="-1" strike="noStrike">
                <a:solidFill>
                  <a:srgbClr val="ff4000"/>
                </a:solidFill>
                <a:latin typeface="Courier New"/>
                <a:ea typeface="Courier New"/>
              </a:rPr>
              <a:t>#today=`date +%Y%m%d` → legacy notation</a:t>
            </a:r>
            <a:br>
              <a:rPr sz="1800"/>
            </a:br>
            <a:r>
              <a:rPr b="1" lang="nl-BE" sz="1800" spc="-1" strike="noStrike">
                <a:solidFill>
                  <a:srgbClr val="ff4000"/>
                </a:solidFill>
                <a:latin typeface="Courier New"/>
                <a:ea typeface="Courier New"/>
              </a:rPr>
              <a:t>today=$(date +%Y%m%d)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backup_dir=/temporary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800" spc="-1" strike="noStrike">
                <a:solidFill>
                  <a:srgbClr val="ff4000"/>
                </a:solidFill>
                <a:latin typeface="Courier New"/>
                <a:ea typeface="Courier New"/>
              </a:rPr>
              <a:t>backup_file=backup${today}</a:t>
            </a: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.tgz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files=/root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"Backing up to $backup_file..."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tar -zcf "${backup_dir}/${backup_file}" ${files} 2&gt;/dev/null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sync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8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"Done."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Backup script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65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7F77EE-3CF0-42E2-946C-7C219BC4A186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412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nl-BE" sz="3200" spc="-1" strike="noStrike">
                <a:solidFill>
                  <a:schemeClr val="dk1"/>
                </a:solidFill>
                <a:latin typeface="Verdana"/>
                <a:ea typeface="Verdana"/>
              </a:rPr>
              <a:t>Arguments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556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Every command in Unix can receive command-line parameters (arguments) as input.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4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a script can also use these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Parameters are separated by spaces in scripts: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30120">
              <a:lnSpc>
                <a:spcPct val="114000"/>
              </a:lnSpc>
              <a:buClr>
                <a:srgbClr val="000000"/>
              </a:buClr>
              <a:buFont typeface="Noto Sans Symbols"/>
              <a:buChar char="▪"/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$0 = name of the script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30120">
              <a:lnSpc>
                <a:spcPct val="114000"/>
              </a:lnSpc>
              <a:buClr>
                <a:srgbClr val="000000"/>
              </a:buClr>
              <a:buFont typeface="Noto Sans Symbols"/>
              <a:buChar char="▪"/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$1, $2, ..., $9 = first to ninth parameter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30120">
              <a:lnSpc>
                <a:spcPct val="114000"/>
              </a:lnSpc>
              <a:buClr>
                <a:srgbClr val="000000"/>
              </a:buClr>
              <a:buFont typeface="Noto Sans Symbols"/>
              <a:buChar char="▪"/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$# = number of parameters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30120">
              <a:lnSpc>
                <a:spcPct val="114000"/>
              </a:lnSpc>
              <a:buClr>
                <a:srgbClr val="000000"/>
              </a:buClr>
              <a:buFont typeface="Noto Sans Symbols"/>
              <a:buChar char="▪"/>
            </a:pPr>
            <a:r>
              <a:rPr b="0" lang="nl-BE" sz="1600" spc="-1" strike="noStrike">
                <a:solidFill>
                  <a:schemeClr val="dk1"/>
                </a:solidFill>
                <a:latin typeface="Verdana"/>
                <a:ea typeface="Verdana"/>
              </a:rPr>
              <a:t>$* = all parameters as 1 string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Arguments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66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42B898-B323-4A6F-989D-633E0C22BDD5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#!/bin/bash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"number of parameters: $#"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"all parameters as 1 string: $*"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"command = $0"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"parameter 1 = $1"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"parameter 2 = $2"</a:t>
            </a:r>
            <a:br>
              <a:rPr sz="1900"/>
            </a:b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Verdana"/>
              </a:rPr>
              <a:t>echo "parameter 11 = ${11}"</a:t>
            </a:r>
            <a:br>
              <a:rPr sz="1900"/>
            </a:b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Verdana"/>
              </a:rPr>
              <a:t>echo "parameter 11 = ${12?Parameter not submitted}"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Example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67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68C410-3F9F-4C1B-B718-369AF39029CF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/>
          </p:nvPr>
        </p:nvSpPr>
        <p:spPr>
          <a:xfrm>
            <a:off x="678240" y="1136880"/>
            <a:ext cx="83527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#!/bin/bash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today=$(date +%Y%m%d)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backup_dir=/temporary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backup_file=backup$today.tgz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files="/root"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"Backing up to $backup_file..."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tar -zcf "${backup_dir}/${backup_file}" ${files} </a:t>
            </a:r>
            <a:r>
              <a:rPr b="1" lang="nl-BE" sz="1900" spc="-1" strike="noStrike">
                <a:solidFill>
                  <a:srgbClr val="ff0000"/>
                </a:solidFill>
                <a:latin typeface="Courier New"/>
                <a:ea typeface="Courier New"/>
              </a:rPr>
              <a:t>"</a:t>
            </a:r>
            <a:r>
              <a:rPr b="1" lang="nl-BE" sz="1900" spc="-1" strike="noStrike">
                <a:solidFill>
                  <a:srgbClr val="00b050"/>
                </a:solidFill>
                <a:latin typeface="Courier New"/>
                <a:ea typeface="Courier New"/>
              </a:rPr>
              <a:t>$*</a:t>
            </a:r>
            <a:r>
              <a:rPr b="1" lang="nl-BE" sz="1900" spc="-1" strike="noStrike">
                <a:solidFill>
                  <a:srgbClr val="ff0000"/>
                </a:solidFill>
                <a:latin typeface="Courier New"/>
                <a:ea typeface="Courier New"/>
              </a:rPr>
              <a:t>"</a:t>
            </a: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  </a:t>
            </a: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\</a:t>
            </a:r>
            <a:br>
              <a:rPr sz="1900"/>
            </a:b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                           </a:t>
            </a: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2&gt;/dev/null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sync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9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"Done."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Backup script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68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CBDC8A-A9D1-40EF-895F-5153E829285A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412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nl-BE" sz="3200" spc="-1" strike="noStrike">
                <a:solidFill>
                  <a:schemeClr val="dk1"/>
                </a:solidFill>
                <a:latin typeface="Verdana"/>
                <a:ea typeface="Verdana"/>
              </a:rPr>
              <a:t>Log files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/>
          </p:nvPr>
        </p:nvSpPr>
        <p:spPr>
          <a:xfrm>
            <a:off x="578880" y="113688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#!/bin/bash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today=$(date +%Y%m%d)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backup_dir=/temporary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backup_file=backup${today}.tgz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files="/root $@"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logfile=/var/log/backup.log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"Backing up to $backup_file..."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tar -zcf "${backup_dir}/${backup_file}" ${files} 2&gt;&gt;${logfile}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sync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rgbClr val="ff4000"/>
                </a:solidFill>
                <a:latin typeface="Courier New"/>
                <a:ea typeface="Courier New"/>
              </a:rPr>
              <a:t>echo "${today}: backup successful" &gt;&gt;${logfile}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1600" spc="-1" strike="noStrike">
                <a:solidFill>
                  <a:schemeClr val="dk1"/>
                </a:solidFill>
                <a:latin typeface="Courier New"/>
                <a:ea typeface="Courier New"/>
              </a:rPr>
              <a:t>echo "Done."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Scripts often create log files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69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EC4EF1-6632-4A19-B15B-DAE1E1889FCA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/>
          </p:nvPr>
        </p:nvSpPr>
        <p:spPr>
          <a:xfrm>
            <a:off x="578880" y="1441440"/>
            <a:ext cx="8025120" cy="31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55680">
              <a:lnSpc>
                <a:spcPct val="114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A script is like a Java programme: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echo -&gt; System.out.println()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read -&gt; keyboard.nextLine()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variables -&gt; always type String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3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use $((...)) or bc to calculate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exit -&gt; System.exit()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$1, $2, ... -&gt; args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if, for, while, switch -&gt; next lesson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14000"/>
              </a:lnSpc>
              <a:buClr>
                <a:srgbClr val="000000"/>
              </a:buClr>
              <a:buFont typeface="Arial"/>
              <a:buChar char="–"/>
            </a:pPr>
            <a:r>
              <a:rPr b="0" lang="nl-BE" sz="1800" spc="-1" strike="noStrike">
                <a:solidFill>
                  <a:schemeClr val="dk1"/>
                </a:solidFill>
                <a:latin typeface="Verdana"/>
                <a:ea typeface="Verdana"/>
              </a:rPr>
              <a:t>functions (methods) -&gt; next lesson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Conclusion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70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18E678-8C8D-4B8B-8A4D-DB677F6A2D54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582120" y="2329920"/>
            <a:ext cx="443412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nl-BE" sz="3200" spc="-1" strike="noStrike">
                <a:solidFill>
                  <a:schemeClr val="dk1"/>
                </a:solidFill>
                <a:latin typeface="Verdana"/>
                <a:ea typeface="Verdana"/>
              </a:rPr>
              <a:t>Exercises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sldNum" idx="71"/>
          </p:nvPr>
        </p:nvSpPr>
        <p:spPr>
          <a:xfrm>
            <a:off x="6481080" y="523224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52B281-B13C-40C6-BD65-18EE3CE634B4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/>
          </p:nvPr>
        </p:nvSpPr>
        <p:spPr>
          <a:xfrm>
            <a:off x="578880" y="826920"/>
            <a:ext cx="8025120" cy="377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4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nl-BE" sz="2000" spc="-1" strike="noStrike">
                <a:solidFill>
                  <a:schemeClr val="dk1"/>
                </a:solidFill>
                <a:latin typeface="Verdana"/>
                <a:ea typeface="Verdana"/>
              </a:rPr>
              <a:t>Canvas → chapter 7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7.1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Write a bash script named </a:t>
            </a:r>
            <a:r>
              <a:rPr b="0" lang="nl-BE" sz="1100" spc="-1" strike="noStrike">
                <a:solidFill>
                  <a:srgbClr val="a31515"/>
                </a:solidFill>
                <a:latin typeface="Consolas"/>
                <a:ea typeface="Verdana"/>
              </a:rPr>
              <a:t>multiply.sh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     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The script accepts 2 arguments.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   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Print the product of the 2 arguments to STDOUT. (</a:t>
            </a:r>
            <a:r>
              <a:rPr b="0" lang="nl-BE" sz="1100" spc="-1" strike="noStrike">
                <a:solidFill>
                  <a:srgbClr val="a31515"/>
                </a:solidFill>
                <a:latin typeface="Consolas"/>
                <a:ea typeface="Verdana"/>
              </a:rPr>
              <a:t>echo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  </a:t>
            </a:r>
            <a:r>
              <a:rPr b="1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7.2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Write a script </a:t>
            </a:r>
            <a:r>
              <a:rPr b="0" lang="nl-BE" sz="1100" spc="-1" strike="noStrike">
                <a:solidFill>
                  <a:srgbClr val="a31515"/>
                </a:solidFill>
                <a:latin typeface="Consolas"/>
                <a:ea typeface="Verdana"/>
              </a:rPr>
              <a:t>loggedin.sh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that displays a sorted list of all logged-in usernames.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7.3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Create a script </a:t>
            </a:r>
            <a:r>
              <a:rPr b="0" lang="nl-BE" sz="1100" spc="-1" strike="noStrike">
                <a:solidFill>
                  <a:srgbClr val="a31515"/>
                </a:solidFill>
                <a:latin typeface="Consolas"/>
                <a:ea typeface="Verdana"/>
              </a:rPr>
              <a:t>countfiles.sh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that counts how many directories and files are in the current user's home 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directory. Store that count in the variable "filecount". Print to the screen: "The home dir contains &lt;filecount&gt; 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files."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7.4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Write a script </a:t>
            </a:r>
            <a:r>
              <a:rPr b="0" lang="nl-BE" sz="1100" spc="-1" strike="noStrike">
                <a:solidFill>
                  <a:srgbClr val="a31515"/>
                </a:solidFill>
                <a:latin typeface="Consolas"/>
                <a:ea typeface="Verdana"/>
              </a:rPr>
              <a:t>hello.sh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that expects a name as a parameter. The script saves this name in a variable </a:t>
            </a:r>
            <a:r>
              <a:rPr b="0" lang="nl-BE" sz="1100" spc="-1" strike="noStrike">
                <a:solidFill>
                  <a:srgbClr val="a31515"/>
                </a:solidFill>
                <a:latin typeface="Consolas"/>
                <a:ea typeface="Verdana"/>
              </a:rPr>
              <a:t>name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. If no 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parameter was provided, the script stops with an error message. If a parameter was provided, the script 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says </a:t>
            </a:r>
            <a:r>
              <a:rPr b="0" lang="nl-BE" sz="1100" spc="-1" strike="noStrike">
                <a:solidFill>
                  <a:srgbClr val="a31515"/>
                </a:solidFill>
                <a:latin typeface="Consolas"/>
                <a:ea typeface="Verdana"/>
              </a:rPr>
              <a:t>&lt;date&gt;: Hello, &lt;name&gt;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where the date and name are filled in.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7.5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Write a script </a:t>
            </a:r>
            <a:r>
              <a:rPr b="0" lang="nl-BE" sz="1100" spc="-1" strike="noStrike">
                <a:solidFill>
                  <a:srgbClr val="a31515"/>
                </a:solidFill>
                <a:latin typeface="Consolas"/>
                <a:ea typeface="Verdana"/>
              </a:rPr>
              <a:t>searchwords.sh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that asks the user for 2 words. The script searches for these words in the file 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"text.txt" (create this beforehand) and displays every line where one of these words occurs. If a word is empty, 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it is replaced by "blahblah" and searched for that instead.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355680">
              <a:lnSpc>
                <a:spcPct val="113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7.6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Create a script </a:t>
            </a:r>
            <a:r>
              <a:rPr b="0" lang="nl-BE" sz="1100" spc="-1" strike="noStrike">
                <a:solidFill>
                  <a:srgbClr val="a31515"/>
                </a:solidFill>
                <a:latin typeface="Consolas"/>
                <a:ea typeface="Verdana"/>
              </a:rPr>
              <a:t>lockUser.sh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that you can use if a user has misbehaved. The script expects 1 parameter: the 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username. The script locks the user (using the </a:t>
            </a:r>
            <a:r>
              <a:rPr b="0" lang="nl-BE" sz="1100" spc="-1" strike="noStrike">
                <a:solidFill>
                  <a:srgbClr val="a31515"/>
                </a:solidFill>
                <a:latin typeface="Consolas"/>
                <a:ea typeface="Verdana"/>
              </a:rPr>
              <a:t>sudo passwd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command). Then, it creates a tar archive of that 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user's home directory. The tar archive is placed in the </a:t>
            </a:r>
            <a:r>
              <a:rPr b="0" lang="nl-BE" sz="1100" spc="-1" strike="noStrike">
                <a:solidFill>
                  <a:srgbClr val="a31515"/>
                </a:solidFill>
                <a:latin typeface="Consolas"/>
                <a:ea typeface="Verdana"/>
              </a:rPr>
              <a:t>/root/blockedUsers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 folder. After that, the user's </a:t>
            </a:r>
            <a:r>
              <a:rPr b="0" lang="nl-BE" sz="1100" spc="-1" strike="noStrike">
                <a:solidFill>
                  <a:schemeClr val="dk1"/>
                </a:solidFill>
                <a:latin typeface="Verdana"/>
                <a:ea typeface="Verdana"/>
              </a:rPr>
              <a:t>home folder is removed.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3000"/>
              </a:lnSpc>
              <a:spcBef>
                <a:spcPts val="300"/>
              </a:spcBef>
              <a:spcAft>
                <a:spcPts val="7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title"/>
          </p:nvPr>
        </p:nvSpPr>
        <p:spPr>
          <a:xfrm>
            <a:off x="578880" y="407160"/>
            <a:ext cx="802512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nl-BE" sz="2400" spc="-1" strike="noStrike">
                <a:solidFill>
                  <a:schemeClr val="dk1"/>
                </a:solidFill>
                <a:latin typeface="Verdana"/>
                <a:ea typeface="Verdana"/>
              </a:rPr>
              <a:t>Exercises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72"/>
          </p:nvPr>
        </p:nvSpPr>
        <p:spPr>
          <a:xfrm>
            <a:off x="8604360" y="4767120"/>
            <a:ext cx="4316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BE" sz="1050" spc="-1" strike="noStrike">
                <a:solidFill>
                  <a:srgbClr val="888888"/>
                </a:solidFill>
                <a:latin typeface="Verdana"/>
                <a:ea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F7EC93-BEB8-4C54-8091-AE59D25E98E1}" type="slidenum">
              <a:rPr b="0" lang="nl-BE" sz="1050" spc="-1" strike="noStrike">
                <a:solidFill>
                  <a:srgbClr val="888888"/>
                </a:solidFill>
                <a:latin typeface="Verdana"/>
                <a:ea typeface="Verdana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KdG_MH">
  <a:themeElements>
    <a:clrScheme name="Aangepast 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ab82c"/>
      </a:accent1>
      <a:accent2>
        <a:srgbClr val="a9cb59"/>
      </a:accent2>
      <a:accent3>
        <a:srgbClr val="0094ba"/>
      </a:accent3>
      <a:accent4>
        <a:srgbClr val="34bedc"/>
      </a:accent4>
      <a:accent5>
        <a:srgbClr val="8460ac"/>
      </a:accent5>
      <a:accent6>
        <a:srgbClr val="ac5a96"/>
      </a:accent6>
      <a:hlink>
        <a:srgbClr val="0070c0"/>
      </a:hlink>
      <a:folHlink>
        <a:srgbClr val="0070c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ordinator xmlns="96cf01df-084e-4318-926c-1479b6503e56">
      <UserInfo>
        <DisplayName/>
        <AccountId xsi:nil="true"/>
        <AccountType/>
      </UserInfo>
    </Coordinator>
    <lcf76f155ced4ddcb4097134ff3c332f xmlns="96cf01df-084e-4318-926c-1479b6503e56">
      <Terms xmlns="http://schemas.microsoft.com/office/infopath/2007/PartnerControls"/>
    </lcf76f155ced4ddcb4097134ff3c332f>
    <TaxCatchAll xmlns="16806108-b08c-4f6a-b46a-4c12ffec3729" xsi:nil="true"/>
    <TranslatedLang xmlns="96cf01df-084e-4318-926c-1479b6503e5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C93A7649C86B45AC3C913DE93D70F6" ma:contentTypeVersion="15" ma:contentTypeDescription="Een nieuw document maken." ma:contentTypeScope="" ma:versionID="98980c3911c5bb60ff6c3c14b1b10fd1">
  <xsd:schema xmlns:xsd="http://www.w3.org/2001/XMLSchema" xmlns:xs="http://www.w3.org/2001/XMLSchema" xmlns:p="http://schemas.microsoft.com/office/2006/metadata/properties" xmlns:ns2="96cf01df-084e-4318-926c-1479b6503e56" xmlns:ns3="16806108-b08c-4f6a-b46a-4c12ffec3729" targetNamespace="http://schemas.microsoft.com/office/2006/metadata/properties" ma:root="true" ma:fieldsID="55a62277995f98cab9c39d6ea0f72ec9" ns2:_="" ns3:_="">
    <xsd:import namespace="96cf01df-084e-4318-926c-1479b6503e56"/>
    <xsd:import namespace="16806108-b08c-4f6a-b46a-4c12ffec37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Coordinato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TranslatedLan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cf01df-084e-4318-926c-1479b6503e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ordinator" ma:index="11" nillable="true" ma:displayName="Coordinator" ma:format="Dropdown" ma:list="UserInfo" ma:SharePointGroup="0" ma:internalName="Coordinato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e8a8cb46-6e7a-4999-a48c-b48eda015b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TranslatedLang" ma:index="22" nillable="true" ma:displayName="Translated Language" ma:internalName="TranslatedLang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06108-b08c-4f6a-b46a-4c12ffec372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80ac5e2-e5f2-463b-b27d-06fe6a810189}" ma:internalName="TaxCatchAll" ma:showField="CatchAllData" ma:web="16806108-b08c-4f6a-b46a-4c12ffec37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CA7B2E-7092-41AA-AA8B-8F7594510734}">
  <ds:schemaRefs>
    <ds:schemaRef ds:uri="http://schemas.microsoft.com/office/2006/metadata/properties"/>
    <ds:schemaRef ds:uri="http://schemas.microsoft.com/office/infopath/2007/PartnerControls"/>
    <ds:schemaRef ds:uri="96cf01df-084e-4318-926c-1479b6503e56"/>
    <ds:schemaRef ds:uri="16806108-b08c-4f6a-b46a-4c12ffec3729"/>
  </ds:schemaRefs>
</ds:datastoreItem>
</file>

<file path=customXml/itemProps2.xml><?xml version="1.0" encoding="utf-8"?>
<ds:datastoreItem xmlns:ds="http://schemas.openxmlformats.org/officeDocument/2006/customXml" ds:itemID="{74692A91-D2BF-4D98-9B85-420DB5EFA4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cf01df-084e-4318-926c-1479b6503e56"/>
    <ds:schemaRef ds:uri="16806108-b08c-4f6a-b46a-4c12ffec37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7B53E0-F727-4C2C-B308-BB2E8BCFC9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cp:keywords> docId CFDB6A8C8D33BD1657E680223088E73B</cp:keywords>
  <dc:language>en-US</dc:language>
  <cp:lastModifiedBy/>
  <dcterms:modified xsi:type="dcterms:W3CDTF">2025-12-26T18:35:30Z</dcterms:modified>
  <cp:revision>400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0x0101007CC93A7649C86B45AC3C913DE93D70F6</vt:lpwstr>
  </property>
  <property fmtid="{D5CDD505-2E9C-101B-9397-08002B2CF9AE}" pid="3" name="HiddenSlides">
    <vt:i4>2</vt:i4>
  </property>
  <property fmtid="{D5CDD505-2E9C-101B-9397-08002B2CF9AE}" pid="4" name="MediaServiceImageTags">
    <vt:lpwstr/>
  </property>
  <property fmtid="{D5CDD505-2E9C-101B-9397-08002B2CF9AE}" pid="5" name="Notes">
    <vt:i4>50</vt:i4>
  </property>
  <property fmtid="{D5CDD505-2E9C-101B-9397-08002B2CF9AE}" pid="6" name="PresentationFormat">
    <vt:lpwstr>On-screen Show (16:9)</vt:lpwstr>
  </property>
  <property fmtid="{D5CDD505-2E9C-101B-9397-08002B2CF9AE}" pid="7" name="Slides">
    <vt:i4>52</vt:i4>
  </property>
</Properties>
</file>